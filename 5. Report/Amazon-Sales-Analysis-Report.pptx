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Inter"/>
      <p:regular r:id="rId17"/>
    </p:embeddedFont>
    <p:embeddedFont>
      <p:font typeface="Inter"/>
      <p:regular r:id="rId18"/>
    </p:embeddedFont>
    <p:embeddedFont>
      <p:font typeface="Inter"/>
      <p:regular r:id="rId19"/>
    </p:embeddedFont>
    <p:embeddedFont>
      <p:font typeface="Inter"/>
      <p:regular r:id="rId20"/>
    </p:embeddedFont>
    <p:embeddedFont>
      <p:font typeface="Inter"/>
      <p:regular r:id="rId21"/>
    </p:embeddedFont>
    <p:embeddedFont>
      <p:font typeface="Inter"/>
      <p:regular r:id="rId22"/>
    </p:embeddedFont>
    <p:embeddedFont>
      <p:font typeface="Inter"/>
      <p:regular r:id="rId23"/>
    </p:embeddedFont>
    <p:embeddedFont>
      <p:font typeface="Inter"/>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E0C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E0C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E0C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E0C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E0C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E0C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E0C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E0C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E0C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E0C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drive.google.com/file/d/1YrjYKtS1WHmINL6eafRsrDzrZaw2_WvX/view?usp=sharing" TargetMode="Externa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image" Target="../media/image-3-9.png"/><Relationship Id="rId10" Type="http://schemas.openxmlformats.org/officeDocument/2006/relationships/image" Target="../media/image-3-10.svg"/><Relationship Id="rId11" Type="http://schemas.openxmlformats.org/officeDocument/2006/relationships/slideLayout" Target="../slideLayouts/slideLayout4.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slideLayout" Target="../slideLayouts/slideLayout5.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slideLayout" Target="../slideLayouts/slideLayout6.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7.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svg"/><Relationship Id="rId8" Type="http://schemas.openxmlformats.org/officeDocument/2006/relationships/image" Target="../media/image-7-8.png"/><Relationship Id="rId9" Type="http://schemas.openxmlformats.org/officeDocument/2006/relationships/image" Target="../media/image-7-9.svg"/><Relationship Id="rId10" Type="http://schemas.openxmlformats.org/officeDocument/2006/relationships/slideLayout" Target="../slideLayouts/slideLayout8.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9.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0.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1901309" y="744260"/>
            <a:ext cx="6376749" cy="534948"/>
          </a:xfrm>
          <a:prstGeom prst="rect">
            <a:avLst/>
          </a:prstGeom>
          <a:noFill/>
          <a:ln/>
        </p:spPr>
        <p:txBody>
          <a:bodyPr wrap="none" lIns="0" tIns="0" rIns="0" bIns="0" rtlCol="0" anchor="t"/>
          <a:lstStyle/>
          <a:p>
            <a:pPr algn="l" indent="0" marL="0">
              <a:lnSpc>
                <a:spcPts val="4200"/>
              </a:lnSpc>
              <a:buNone/>
            </a:pPr>
            <a:r>
              <a:rPr lang="en-US" sz="3350" b="1" dirty="0">
                <a:solidFill>
                  <a:srgbClr val="403C4E"/>
                </a:solidFill>
                <a:latin typeface="Inter Bold" pitchFamily="34" charset="0"/>
                <a:ea typeface="Inter Bold" pitchFamily="34" charset="-122"/>
                <a:cs typeface="Inter Bold" pitchFamily="34" charset="-120"/>
              </a:rPr>
              <a:t>Amazon Sales Analysis Report</a:t>
            </a:r>
            <a:endParaRPr lang="en-US" sz="3350" dirty="0"/>
          </a:p>
        </p:txBody>
      </p:sp>
      <p:sp>
        <p:nvSpPr>
          <p:cNvPr id="3" name="Text 1"/>
          <p:cNvSpPr/>
          <p:nvPr/>
        </p:nvSpPr>
        <p:spPr>
          <a:xfrm>
            <a:off x="1901309" y="1347668"/>
            <a:ext cx="3875365" cy="267414"/>
          </a:xfrm>
          <a:prstGeom prst="rect">
            <a:avLst/>
          </a:prstGeom>
          <a:noFill/>
          <a:ln/>
        </p:spPr>
        <p:txBody>
          <a:bodyPr wrap="none" lIns="0" tIns="0" rIns="0" bIns="0" rtlCol="0" anchor="t"/>
          <a:lstStyle/>
          <a:p>
            <a:pPr algn="l" indent="0" marL="0">
              <a:lnSpc>
                <a:spcPts val="2100"/>
              </a:lnSpc>
              <a:buNone/>
            </a:pPr>
            <a:r>
              <a:rPr lang="en-US" sz="1650" b="1" dirty="0">
                <a:solidFill>
                  <a:srgbClr val="403C4E"/>
                </a:solidFill>
                <a:latin typeface="Inter Bold" pitchFamily="34" charset="0"/>
                <a:ea typeface="Inter Bold" pitchFamily="34" charset="-122"/>
                <a:cs typeface="Inter Bold" pitchFamily="34" charset="-120"/>
              </a:rPr>
              <a:t>Dataset Name : Amazon Sales Report</a:t>
            </a:r>
            <a:endParaRPr lang="en-US" sz="1650" dirty="0"/>
          </a:p>
        </p:txBody>
      </p:sp>
      <p:sp>
        <p:nvSpPr>
          <p:cNvPr id="4" name="Text 2"/>
          <p:cNvSpPr/>
          <p:nvPr/>
        </p:nvSpPr>
        <p:spPr>
          <a:xfrm>
            <a:off x="1901309" y="1871782"/>
            <a:ext cx="10827782" cy="273844"/>
          </a:xfrm>
          <a:prstGeom prst="rect">
            <a:avLst/>
          </a:prstGeom>
          <a:noFill/>
          <a:ln/>
        </p:spPr>
        <p:txBody>
          <a:bodyPr wrap="none" lIns="0" tIns="0" rIns="0" bIns="0" rtlCol="0" anchor="t"/>
          <a:lstStyle/>
          <a:p>
            <a:pPr algn="l" indent="0" marL="0">
              <a:lnSpc>
                <a:spcPts val="2150"/>
              </a:lnSpc>
              <a:buNone/>
            </a:pPr>
            <a:r>
              <a:rPr lang="en-US" sz="1300" dirty="0">
                <a:solidFill>
                  <a:srgbClr val="403C4E"/>
                </a:solidFill>
                <a:latin typeface="Inter" pitchFamily="34" charset="0"/>
                <a:ea typeface="Inter" pitchFamily="34" charset="-122"/>
                <a:cs typeface="Inter" pitchFamily="34" charset="-120"/>
              </a:rPr>
              <a:t>Datasets: </a:t>
            </a:r>
            <a:pPr algn="l" indent="0" marL="0">
              <a:lnSpc>
                <a:spcPts val="2150"/>
              </a:lnSpc>
              <a:buNone/>
            </a:pPr>
            <a:r>
              <a:rPr lang="en-US" sz="1300" u="sng" dirty="0">
                <a:solidFill>
                  <a:srgbClr val="CC3000"/>
                </a:solidFill>
                <a:latin typeface="Inter" pitchFamily="34" charset="0"/>
                <a:ea typeface="Inter" pitchFamily="34" charset="-122"/>
                <a:cs typeface="Inter"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https://drive.google.com/file/d/1YrjYKtS1WHmINL6eafRsrDzrZaw2_WvX/view?usp=sharing</a:t>
            </a:r>
            <a:endParaRPr lang="en-US" sz="1300" dirty="0"/>
          </a:p>
        </p:txBody>
      </p:sp>
      <p:sp>
        <p:nvSpPr>
          <p:cNvPr id="5" name="Text 3"/>
          <p:cNvSpPr/>
          <p:nvPr/>
        </p:nvSpPr>
        <p:spPr>
          <a:xfrm>
            <a:off x="1901309" y="2402324"/>
            <a:ext cx="2198846" cy="267414"/>
          </a:xfrm>
          <a:prstGeom prst="rect">
            <a:avLst/>
          </a:prstGeom>
          <a:noFill/>
          <a:ln/>
        </p:spPr>
        <p:txBody>
          <a:bodyPr wrap="none" lIns="0" tIns="0" rIns="0" bIns="0" rtlCol="0" anchor="t"/>
          <a:lstStyle/>
          <a:p>
            <a:pPr algn="l" indent="0" marL="0">
              <a:lnSpc>
                <a:spcPts val="2100"/>
              </a:lnSpc>
              <a:buNone/>
            </a:pPr>
            <a:r>
              <a:rPr lang="en-US" sz="1650" b="1" dirty="0">
                <a:solidFill>
                  <a:srgbClr val="403C4E"/>
                </a:solidFill>
                <a:latin typeface="Inter Bold" pitchFamily="34" charset="0"/>
                <a:ea typeface="Inter Bold" pitchFamily="34" charset="-122"/>
                <a:cs typeface="Inter Bold" pitchFamily="34" charset="-120"/>
              </a:rPr>
              <a:t>Problem Description:</a:t>
            </a:r>
            <a:endParaRPr lang="en-US" sz="1650" dirty="0"/>
          </a:p>
        </p:txBody>
      </p:sp>
      <p:sp>
        <p:nvSpPr>
          <p:cNvPr id="6" name="Text 4"/>
          <p:cNvSpPr/>
          <p:nvPr/>
        </p:nvSpPr>
        <p:spPr>
          <a:xfrm>
            <a:off x="1901309" y="2926437"/>
            <a:ext cx="10827782" cy="821531"/>
          </a:xfrm>
          <a:prstGeom prst="rect">
            <a:avLst/>
          </a:prstGeom>
          <a:noFill/>
          <a:ln/>
        </p:spPr>
        <p:txBody>
          <a:bodyPr wrap="square" lIns="0" tIns="0" rIns="0" bIns="0" rtlCol="0" anchor="t"/>
          <a:lstStyle/>
          <a:p>
            <a:pPr algn="l" indent="0" marL="0">
              <a:lnSpc>
                <a:spcPts val="2150"/>
              </a:lnSpc>
              <a:buNone/>
            </a:pPr>
            <a:r>
              <a:rPr lang="en-US" sz="1300" dirty="0">
                <a:solidFill>
                  <a:srgbClr val="403C4E"/>
                </a:solidFill>
                <a:latin typeface="Inter" pitchFamily="34" charset="0"/>
                <a:ea typeface="Inter" pitchFamily="34" charset="-122"/>
                <a:cs typeface="Inter" pitchFamily="34" charset="-120"/>
              </a:rPr>
              <a:t>The provided dataset contains information about sales transactions on Amazon, including details such as order ID, date, status, fulfilment method, sales channel, product category, size, quantity, amount, shipping details, and more. The objective is to conduct a comprehensive analysis of the data and extract actionable insights to support business decision-making.</a:t>
            </a:r>
            <a:endParaRPr lang="en-US" sz="1300" dirty="0"/>
          </a:p>
        </p:txBody>
      </p:sp>
      <p:sp>
        <p:nvSpPr>
          <p:cNvPr id="7" name="Text 5"/>
          <p:cNvSpPr/>
          <p:nvPr/>
        </p:nvSpPr>
        <p:spPr>
          <a:xfrm>
            <a:off x="1901309" y="3940492"/>
            <a:ext cx="10827782" cy="547688"/>
          </a:xfrm>
          <a:prstGeom prst="rect">
            <a:avLst/>
          </a:prstGeom>
          <a:noFill/>
          <a:ln/>
        </p:spPr>
        <p:txBody>
          <a:bodyPr wrap="square" lIns="0" tIns="0" rIns="0" bIns="0" rtlCol="0" anchor="t"/>
          <a:lstStyle/>
          <a:p>
            <a:pPr algn="l" indent="0" marL="0">
              <a:lnSpc>
                <a:spcPts val="2150"/>
              </a:lnSpc>
              <a:buNone/>
            </a:pPr>
            <a:r>
              <a:rPr lang="en-US" sz="1300" dirty="0">
                <a:solidFill>
                  <a:srgbClr val="403C4E"/>
                </a:solidFill>
                <a:latin typeface="Inter" pitchFamily="34" charset="0"/>
                <a:ea typeface="Inter" pitchFamily="34" charset="-122"/>
                <a:cs typeface="Inter" pitchFamily="34" charset="-120"/>
              </a:rPr>
              <a:t>Prepared by: </a:t>
            </a:r>
            <a:pPr algn="l" indent="0" marL="0">
              <a:lnSpc>
                <a:spcPts val="2150"/>
              </a:lnSpc>
              <a:buNone/>
            </a:pPr>
            <a:r>
              <a:rPr lang="en-US" sz="1300" b="1" i="1" dirty="0">
                <a:solidFill>
                  <a:srgbClr val="000000"/>
                </a:solidFill>
                <a:latin typeface="Inter" pitchFamily="34" charset="0"/>
                <a:ea typeface="Inter" pitchFamily="34" charset="-122"/>
                <a:cs typeface="Inter" pitchFamily="34" charset="-120"/>
              </a:rPr>
              <a:t>Atharva Mathe</a:t>
            </a:r>
            <a:pPr algn="l" indent="0" marL="0">
              <a:lnSpc>
                <a:spcPts val="2150"/>
              </a:lnSpc>
              <a:buNone/>
            </a:pPr>
            <a:r>
              <a:rPr lang="en-US" sz="1300" dirty="0">
                <a:solidFill>
                  <a:srgbClr val="403C4E"/>
                </a:solidFill>
                <a:latin typeface="Inter" pitchFamily="34" charset="0"/>
                <a:ea typeface="Inter" pitchFamily="34" charset="-122"/>
                <a:cs typeface="Inter" pitchFamily="34" charset="-120"/>
              </a:rPr>
              <a:t>Tools: Python, SQL, Tableau</a:t>
            </a:r>
            <a:endParaRPr lang="en-US" sz="1300" dirty="0"/>
          </a:p>
        </p:txBody>
      </p:sp>
      <p:sp>
        <p:nvSpPr>
          <p:cNvPr id="8" name="Text 6"/>
          <p:cNvSpPr/>
          <p:nvPr/>
        </p:nvSpPr>
        <p:spPr>
          <a:xfrm>
            <a:off x="1901309" y="4744879"/>
            <a:ext cx="2139791" cy="267414"/>
          </a:xfrm>
          <a:prstGeom prst="rect">
            <a:avLst/>
          </a:prstGeom>
          <a:noFill/>
          <a:ln/>
        </p:spPr>
        <p:txBody>
          <a:bodyPr wrap="none" lIns="0" tIns="0" rIns="0" bIns="0" rtlCol="0" anchor="t"/>
          <a:lstStyle/>
          <a:p>
            <a:pPr algn="l" indent="0" marL="0">
              <a:lnSpc>
                <a:spcPts val="2100"/>
              </a:lnSpc>
              <a:buNone/>
            </a:pPr>
            <a:r>
              <a:rPr lang="en-US" sz="1650" b="1" dirty="0">
                <a:solidFill>
                  <a:srgbClr val="403C4E"/>
                </a:solidFill>
                <a:latin typeface="Inter Bold" pitchFamily="34" charset="0"/>
                <a:ea typeface="Inter Bold" pitchFamily="34" charset="-122"/>
                <a:cs typeface="Inter Bold" pitchFamily="34" charset="-120"/>
              </a:rPr>
              <a:t>Key Objectives :</a:t>
            </a:r>
            <a:endParaRPr lang="en-US" sz="1650" dirty="0"/>
          </a:p>
        </p:txBody>
      </p:sp>
      <p:sp>
        <p:nvSpPr>
          <p:cNvPr id="9" name="Text 7"/>
          <p:cNvSpPr/>
          <p:nvPr/>
        </p:nvSpPr>
        <p:spPr>
          <a:xfrm>
            <a:off x="1901309" y="5268992"/>
            <a:ext cx="10827782" cy="273844"/>
          </a:xfrm>
          <a:prstGeom prst="rect">
            <a:avLst/>
          </a:prstGeom>
          <a:noFill/>
          <a:ln/>
        </p:spPr>
        <p:txBody>
          <a:bodyPr wrap="none" lIns="0" tIns="0" rIns="0" bIns="0" rtlCol="0" anchor="t"/>
          <a:lstStyle/>
          <a:p>
            <a:pPr algn="l" marL="342900" indent="-342900">
              <a:lnSpc>
                <a:spcPts val="2150"/>
              </a:lnSpc>
              <a:buSzPct val="100000"/>
              <a:buFont typeface="+mj-lt"/>
              <a:buAutoNum type="arabicPeriod" startAt="1"/>
            </a:pPr>
            <a:r>
              <a:rPr lang="en-US" sz="1300" b="1" dirty="0">
                <a:solidFill>
                  <a:srgbClr val="403C4E"/>
                </a:solidFill>
                <a:latin typeface="Inter" pitchFamily="34" charset="0"/>
                <a:ea typeface="Inter" pitchFamily="34" charset="-122"/>
                <a:cs typeface="Inter" pitchFamily="34" charset="-120"/>
              </a:rPr>
              <a:t>Sales Overview:</a:t>
            </a:r>
            <a:pPr algn="l" indent="0" marL="0">
              <a:lnSpc>
                <a:spcPts val="2150"/>
              </a:lnSpc>
              <a:buNone/>
            </a:pPr>
            <a:r>
              <a:rPr lang="en-US" sz="1300" dirty="0">
                <a:solidFill>
                  <a:srgbClr val="403C4E"/>
                </a:solidFill>
                <a:latin typeface="Inter" pitchFamily="34" charset="0"/>
                <a:ea typeface="Inter" pitchFamily="34" charset="-122"/>
                <a:cs typeface="Inter" pitchFamily="34" charset="-120"/>
              </a:rPr>
              <a:t> Understand the overall sales performance, trends, and patterns over time.</a:t>
            </a:r>
            <a:endParaRPr lang="en-US" sz="1300" dirty="0"/>
          </a:p>
        </p:txBody>
      </p:sp>
      <p:sp>
        <p:nvSpPr>
          <p:cNvPr id="10" name="Text 8"/>
          <p:cNvSpPr/>
          <p:nvPr/>
        </p:nvSpPr>
        <p:spPr>
          <a:xfrm>
            <a:off x="1901309" y="5602724"/>
            <a:ext cx="10827782" cy="273844"/>
          </a:xfrm>
          <a:prstGeom prst="rect">
            <a:avLst/>
          </a:prstGeom>
          <a:noFill/>
          <a:ln/>
        </p:spPr>
        <p:txBody>
          <a:bodyPr wrap="none" lIns="0" tIns="0" rIns="0" bIns="0" rtlCol="0" anchor="t"/>
          <a:lstStyle/>
          <a:p>
            <a:pPr algn="l" marL="342900" indent="-342900">
              <a:lnSpc>
                <a:spcPts val="2150"/>
              </a:lnSpc>
              <a:buSzPct val="100000"/>
              <a:buFont typeface="+mj-lt"/>
              <a:buAutoNum type="arabicPeriod" startAt="2"/>
            </a:pPr>
            <a:r>
              <a:rPr lang="en-US" sz="1300" b="1" dirty="0">
                <a:solidFill>
                  <a:srgbClr val="403C4E"/>
                </a:solidFill>
                <a:latin typeface="Inter" pitchFamily="34" charset="0"/>
                <a:ea typeface="Inter" pitchFamily="34" charset="-122"/>
                <a:cs typeface="Inter" pitchFamily="34" charset="-120"/>
              </a:rPr>
              <a:t>Product Analysis:</a:t>
            </a:r>
            <a:pPr algn="l" indent="0" marL="0">
              <a:lnSpc>
                <a:spcPts val="2150"/>
              </a:lnSpc>
              <a:buNone/>
            </a:pPr>
            <a:r>
              <a:rPr lang="en-US" sz="1300" dirty="0">
                <a:solidFill>
                  <a:srgbClr val="403C4E"/>
                </a:solidFill>
                <a:latin typeface="Inter" pitchFamily="34" charset="0"/>
                <a:ea typeface="Inter" pitchFamily="34" charset="-122"/>
                <a:cs typeface="Inter" pitchFamily="34" charset="-120"/>
              </a:rPr>
              <a:t> Analyze the distribution of product categories, sizes, and quantities sold to identify popular products.</a:t>
            </a:r>
            <a:endParaRPr lang="en-US" sz="1300" dirty="0"/>
          </a:p>
        </p:txBody>
      </p:sp>
      <p:sp>
        <p:nvSpPr>
          <p:cNvPr id="11" name="Text 9"/>
          <p:cNvSpPr/>
          <p:nvPr/>
        </p:nvSpPr>
        <p:spPr>
          <a:xfrm>
            <a:off x="1901309" y="5936456"/>
            <a:ext cx="10827782" cy="273844"/>
          </a:xfrm>
          <a:prstGeom prst="rect">
            <a:avLst/>
          </a:prstGeom>
          <a:noFill/>
          <a:ln/>
        </p:spPr>
        <p:txBody>
          <a:bodyPr wrap="none" lIns="0" tIns="0" rIns="0" bIns="0" rtlCol="0" anchor="t"/>
          <a:lstStyle/>
          <a:p>
            <a:pPr algn="l" marL="342900" indent="-342900">
              <a:lnSpc>
                <a:spcPts val="2150"/>
              </a:lnSpc>
              <a:buSzPct val="100000"/>
              <a:buFont typeface="+mj-lt"/>
              <a:buAutoNum type="arabicPeriod" startAt="3"/>
            </a:pPr>
            <a:r>
              <a:rPr lang="en-US" sz="1300" b="1" dirty="0">
                <a:solidFill>
                  <a:srgbClr val="403C4E"/>
                </a:solidFill>
                <a:latin typeface="Inter" pitchFamily="34" charset="0"/>
                <a:ea typeface="Inter" pitchFamily="34" charset="-122"/>
                <a:cs typeface="Inter" pitchFamily="34" charset="-120"/>
              </a:rPr>
              <a:t>Fulfilment Analysis:</a:t>
            </a:r>
            <a:pPr algn="l" indent="0" marL="0">
              <a:lnSpc>
                <a:spcPts val="2150"/>
              </a:lnSpc>
              <a:buNone/>
            </a:pPr>
            <a:r>
              <a:rPr lang="en-US" sz="1300" dirty="0">
                <a:solidFill>
                  <a:srgbClr val="403C4E"/>
                </a:solidFill>
                <a:latin typeface="Inter" pitchFamily="34" charset="0"/>
                <a:ea typeface="Inter" pitchFamily="34" charset="-122"/>
                <a:cs typeface="Inter" pitchFamily="34" charset="-120"/>
              </a:rPr>
              <a:t> Investigate the fulfillment methods used and their effectiveness in delivering orders.</a:t>
            </a:r>
            <a:endParaRPr lang="en-US" sz="1300" dirty="0"/>
          </a:p>
        </p:txBody>
      </p:sp>
      <p:sp>
        <p:nvSpPr>
          <p:cNvPr id="12" name="Text 10"/>
          <p:cNvSpPr/>
          <p:nvPr/>
        </p:nvSpPr>
        <p:spPr>
          <a:xfrm>
            <a:off x="1901309" y="6270188"/>
            <a:ext cx="10827782" cy="273844"/>
          </a:xfrm>
          <a:prstGeom prst="rect">
            <a:avLst/>
          </a:prstGeom>
          <a:noFill/>
          <a:ln/>
        </p:spPr>
        <p:txBody>
          <a:bodyPr wrap="none" lIns="0" tIns="0" rIns="0" bIns="0" rtlCol="0" anchor="t"/>
          <a:lstStyle/>
          <a:p>
            <a:pPr algn="l" marL="342900" indent="-342900">
              <a:lnSpc>
                <a:spcPts val="2150"/>
              </a:lnSpc>
              <a:buSzPct val="100000"/>
              <a:buFont typeface="+mj-lt"/>
              <a:buAutoNum type="arabicPeriod" startAt="4"/>
            </a:pPr>
            <a:r>
              <a:rPr lang="en-US" sz="1300" b="1" dirty="0">
                <a:solidFill>
                  <a:srgbClr val="403C4E"/>
                </a:solidFill>
                <a:latin typeface="Inter" pitchFamily="34" charset="0"/>
                <a:ea typeface="Inter" pitchFamily="34" charset="-122"/>
                <a:cs typeface="Inter" pitchFamily="34" charset="-120"/>
              </a:rPr>
              <a:t>Customer Segmentation:</a:t>
            </a:r>
            <a:pPr algn="l" indent="0" marL="0">
              <a:lnSpc>
                <a:spcPts val="2150"/>
              </a:lnSpc>
              <a:buNone/>
            </a:pPr>
            <a:r>
              <a:rPr lang="en-US" sz="1300" dirty="0">
                <a:solidFill>
                  <a:srgbClr val="403C4E"/>
                </a:solidFill>
                <a:latin typeface="Inter" pitchFamily="34" charset="0"/>
                <a:ea typeface="Inter" pitchFamily="34" charset="-122"/>
                <a:cs typeface="Inter" pitchFamily="34" charset="-120"/>
              </a:rPr>
              <a:t> Segment customers based on their buying behaviour, location, and other relevant factors.</a:t>
            </a:r>
            <a:endParaRPr lang="en-US" sz="1300" dirty="0"/>
          </a:p>
        </p:txBody>
      </p:sp>
      <p:sp>
        <p:nvSpPr>
          <p:cNvPr id="13" name="Text 11"/>
          <p:cNvSpPr/>
          <p:nvPr/>
        </p:nvSpPr>
        <p:spPr>
          <a:xfrm>
            <a:off x="1901309" y="6603921"/>
            <a:ext cx="10827782" cy="273844"/>
          </a:xfrm>
          <a:prstGeom prst="rect">
            <a:avLst/>
          </a:prstGeom>
          <a:noFill/>
          <a:ln/>
        </p:spPr>
        <p:txBody>
          <a:bodyPr wrap="none" lIns="0" tIns="0" rIns="0" bIns="0" rtlCol="0" anchor="t"/>
          <a:lstStyle/>
          <a:p>
            <a:pPr algn="l" marL="342900" indent="-342900">
              <a:lnSpc>
                <a:spcPts val="2150"/>
              </a:lnSpc>
              <a:buSzPct val="100000"/>
              <a:buFont typeface="+mj-lt"/>
              <a:buAutoNum type="arabicPeriod" startAt="5"/>
            </a:pPr>
            <a:r>
              <a:rPr lang="en-US" sz="1300" b="1" dirty="0">
                <a:solidFill>
                  <a:srgbClr val="403C4E"/>
                </a:solidFill>
                <a:latin typeface="Inter" pitchFamily="34" charset="0"/>
                <a:ea typeface="Inter" pitchFamily="34" charset="-122"/>
                <a:cs typeface="Inter" pitchFamily="34" charset="-120"/>
              </a:rPr>
              <a:t>Geographical Analysis: </a:t>
            </a:r>
            <a:pPr algn="l" indent="0" marL="0">
              <a:lnSpc>
                <a:spcPts val="2150"/>
              </a:lnSpc>
              <a:buNone/>
            </a:pPr>
            <a:r>
              <a:rPr lang="en-US" sz="1300" dirty="0">
                <a:solidFill>
                  <a:srgbClr val="403C4E"/>
                </a:solidFill>
                <a:latin typeface="Inter" pitchFamily="34" charset="0"/>
                <a:ea typeface="Inter" pitchFamily="34" charset="-122"/>
                <a:cs typeface="Inter" pitchFamily="34" charset="-120"/>
              </a:rPr>
              <a:t>Explore the geographical distribution of sales, focusing on states and cities.</a:t>
            </a:r>
            <a:endParaRPr lang="en-US" sz="1300" dirty="0"/>
          </a:p>
        </p:txBody>
      </p:sp>
      <p:sp>
        <p:nvSpPr>
          <p:cNvPr id="14" name="Text 12"/>
          <p:cNvSpPr/>
          <p:nvPr/>
        </p:nvSpPr>
        <p:spPr>
          <a:xfrm>
            <a:off x="1901309" y="6937653"/>
            <a:ext cx="10827782" cy="547688"/>
          </a:xfrm>
          <a:prstGeom prst="rect">
            <a:avLst/>
          </a:prstGeom>
          <a:noFill/>
          <a:ln/>
        </p:spPr>
        <p:txBody>
          <a:bodyPr wrap="square" lIns="0" tIns="0" rIns="0" bIns="0" rtlCol="0" anchor="t"/>
          <a:lstStyle/>
          <a:p>
            <a:pPr algn="l" marL="342900" indent="-342900">
              <a:lnSpc>
                <a:spcPts val="2150"/>
              </a:lnSpc>
              <a:buSzPct val="100000"/>
              <a:buFont typeface="+mj-lt"/>
              <a:buAutoNum type="arabicPeriod" startAt="6"/>
            </a:pPr>
            <a:r>
              <a:rPr lang="en-US" sz="1300" b="1" dirty="0">
                <a:solidFill>
                  <a:srgbClr val="403C4E"/>
                </a:solidFill>
                <a:latin typeface="Inter" pitchFamily="34" charset="0"/>
                <a:ea typeface="Inter" pitchFamily="34" charset="-122"/>
                <a:cs typeface="Inter" pitchFamily="34" charset="-120"/>
              </a:rPr>
              <a:t>Business Insights: </a:t>
            </a:r>
            <a:pPr algn="l" indent="0" marL="0">
              <a:lnSpc>
                <a:spcPts val="2150"/>
              </a:lnSpc>
              <a:buNone/>
            </a:pPr>
            <a:r>
              <a:rPr lang="en-US" sz="1300" dirty="0">
                <a:solidFill>
                  <a:srgbClr val="403C4E"/>
                </a:solidFill>
                <a:latin typeface="Inter" pitchFamily="34" charset="0"/>
                <a:ea typeface="Inter" pitchFamily="34" charset="-122"/>
                <a:cs typeface="Inter" pitchFamily="34" charset="-120"/>
              </a:rPr>
              <a:t>Provide actionable insights and recommendations based on the analysis to optimize sales strategies, improve customer satisfaction, and enhance overall business performance.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51999" y="763786"/>
            <a:ext cx="2174915" cy="403860"/>
          </a:xfrm>
          <a:prstGeom prst="roundRect">
            <a:avLst>
              <a:gd name="adj" fmla="val 2264"/>
            </a:avLst>
          </a:prstGeom>
          <a:solidFill>
            <a:srgbClr val="FFD8CC"/>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80824" y="879753"/>
            <a:ext cx="171807" cy="171807"/>
          </a:xfrm>
          <a:prstGeom prst="rect">
            <a:avLst/>
          </a:prstGeom>
        </p:spPr>
      </p:pic>
      <p:sp>
        <p:nvSpPr>
          <p:cNvPr id="4" name="Text 1"/>
          <p:cNvSpPr/>
          <p:nvPr/>
        </p:nvSpPr>
        <p:spPr>
          <a:xfrm>
            <a:off x="1138476" y="828199"/>
            <a:ext cx="1659612" cy="275034"/>
          </a:xfrm>
          <a:prstGeom prst="rect">
            <a:avLst/>
          </a:prstGeom>
          <a:noFill/>
          <a:ln/>
        </p:spPr>
        <p:txBody>
          <a:bodyPr wrap="none" lIns="0" tIns="0" rIns="0" bIns="0" rtlCol="0" anchor="t"/>
          <a:lstStyle/>
          <a:p>
            <a:pPr algn="l" indent="0" marL="0">
              <a:lnSpc>
                <a:spcPts val="2150"/>
              </a:lnSpc>
              <a:buNone/>
            </a:pPr>
            <a:r>
              <a:rPr lang="en-US" sz="1350" dirty="0">
                <a:solidFill>
                  <a:srgbClr val="403C4E"/>
                </a:solidFill>
                <a:latin typeface="Inter" pitchFamily="34" charset="0"/>
                <a:ea typeface="Inter" pitchFamily="34" charset="-122"/>
                <a:cs typeface="Inter" pitchFamily="34" charset="-120"/>
              </a:rPr>
              <a:t>PROJECT CONTEXT</a:t>
            </a:r>
            <a:endParaRPr lang="en-US" sz="1350" dirty="0"/>
          </a:p>
        </p:txBody>
      </p:sp>
      <p:sp>
        <p:nvSpPr>
          <p:cNvPr id="5" name="Text 2"/>
          <p:cNvSpPr/>
          <p:nvPr/>
        </p:nvSpPr>
        <p:spPr>
          <a:xfrm>
            <a:off x="751999" y="1253490"/>
            <a:ext cx="7015163" cy="537210"/>
          </a:xfrm>
          <a:prstGeom prst="rect">
            <a:avLst/>
          </a:prstGeom>
          <a:noFill/>
          <a:ln/>
        </p:spPr>
        <p:txBody>
          <a:bodyPr wrap="none" lIns="0" tIns="0" rIns="0" bIns="0" rtlCol="0" anchor="t"/>
          <a:lstStyle/>
          <a:p>
            <a:pPr algn="l" indent="0" marL="0">
              <a:lnSpc>
                <a:spcPts val="4200"/>
              </a:lnSpc>
              <a:buNone/>
            </a:pPr>
            <a:r>
              <a:rPr lang="en-US" sz="3350" b="1" dirty="0">
                <a:solidFill>
                  <a:srgbClr val="403C4E"/>
                </a:solidFill>
                <a:latin typeface="Inter Bold" pitchFamily="34" charset="0"/>
                <a:ea typeface="Inter Bold" pitchFamily="34" charset="-122"/>
                <a:cs typeface="Inter Bold" pitchFamily="34" charset="-120"/>
              </a:rPr>
              <a:t>Dataset Overview &amp; Methodology</a:t>
            </a:r>
            <a:endParaRPr lang="en-US" sz="3350" dirty="0"/>
          </a:p>
        </p:txBody>
      </p:sp>
      <p:sp>
        <p:nvSpPr>
          <p:cNvPr id="6" name="Text 3"/>
          <p:cNvSpPr/>
          <p:nvPr/>
        </p:nvSpPr>
        <p:spPr>
          <a:xfrm>
            <a:off x="751999" y="1876544"/>
            <a:ext cx="4385191" cy="335756"/>
          </a:xfrm>
          <a:prstGeom prst="rect">
            <a:avLst/>
          </a:prstGeom>
          <a:noFill/>
          <a:ln/>
        </p:spPr>
        <p:txBody>
          <a:bodyPr wrap="none" lIns="0" tIns="0" rIns="0" bIns="0" rtlCol="0" anchor="t"/>
          <a:lstStyle/>
          <a:p>
            <a:pPr algn="l" indent="0" marL="0">
              <a:lnSpc>
                <a:spcPts val="2600"/>
              </a:lnSpc>
              <a:buNone/>
            </a:pPr>
            <a:r>
              <a:rPr lang="en-US" sz="2100" b="1" dirty="0">
                <a:solidFill>
                  <a:srgbClr val="403C4E"/>
                </a:solidFill>
                <a:latin typeface="Inter Bold" pitchFamily="34" charset="0"/>
                <a:ea typeface="Inter Bold" pitchFamily="34" charset="-122"/>
                <a:cs typeface="Inter Bold" pitchFamily="34" charset="-120"/>
              </a:rPr>
              <a:t>Dataset Overview &amp; Methodology</a:t>
            </a:r>
            <a:endParaRPr lang="en-US" sz="2100" dirty="0"/>
          </a:p>
        </p:txBody>
      </p:sp>
      <p:sp>
        <p:nvSpPr>
          <p:cNvPr id="7" name="Text 4"/>
          <p:cNvSpPr/>
          <p:nvPr/>
        </p:nvSpPr>
        <p:spPr>
          <a:xfrm>
            <a:off x="751999" y="2298144"/>
            <a:ext cx="3223260" cy="402788"/>
          </a:xfrm>
          <a:prstGeom prst="rect">
            <a:avLst/>
          </a:prstGeom>
          <a:noFill/>
          <a:ln/>
        </p:spPr>
        <p:txBody>
          <a:bodyPr wrap="none" lIns="0" tIns="0" rIns="0" bIns="0" rtlCol="0" anchor="t"/>
          <a:lstStyle/>
          <a:p>
            <a:pPr algn="l" indent="0" marL="0">
              <a:lnSpc>
                <a:spcPts val="3150"/>
              </a:lnSpc>
              <a:buNone/>
            </a:pPr>
            <a:r>
              <a:rPr lang="en-US" sz="2500" b="1" dirty="0">
                <a:solidFill>
                  <a:srgbClr val="403C4E"/>
                </a:solidFill>
                <a:latin typeface="Inter Bold" pitchFamily="34" charset="0"/>
                <a:ea typeface="Inter Bold" pitchFamily="34" charset="-122"/>
                <a:cs typeface="Inter Bold" pitchFamily="34" charset="-120"/>
              </a:rPr>
              <a:t>Dataset Overview</a:t>
            </a:r>
            <a:endParaRPr lang="en-US" sz="2500" dirty="0"/>
          </a:p>
        </p:txBody>
      </p:sp>
      <p:sp>
        <p:nvSpPr>
          <p:cNvPr id="8" name="Text 5"/>
          <p:cNvSpPr/>
          <p:nvPr/>
        </p:nvSpPr>
        <p:spPr>
          <a:xfrm>
            <a:off x="751999" y="3023235"/>
            <a:ext cx="13126402" cy="687705"/>
          </a:xfrm>
          <a:prstGeom prst="rect">
            <a:avLst/>
          </a:prstGeom>
          <a:noFill/>
          <a:ln/>
        </p:spPr>
        <p:txBody>
          <a:bodyPr wrap="square" lIns="0" tIns="0" rIns="0" bIns="0" rtlCol="0" anchor="t"/>
          <a:lstStyle/>
          <a:p>
            <a:pPr algn="l" marL="342900" indent="-342900">
              <a:lnSpc>
                <a:spcPts val="2700"/>
              </a:lnSpc>
              <a:buSzPct val="100000"/>
              <a:buChar char="•"/>
            </a:pPr>
            <a:r>
              <a:rPr lang="en-US" sz="1650" dirty="0">
                <a:solidFill>
                  <a:srgbClr val="403C4E"/>
                </a:solidFill>
                <a:latin typeface="Inter" pitchFamily="34" charset="0"/>
                <a:ea typeface="Inter" pitchFamily="34" charset="-122"/>
                <a:cs typeface="Inter" pitchFamily="34" charset="-120"/>
              </a:rPr>
              <a:t>The analysis is based on </a:t>
            </a:r>
            <a:pPr algn="l" indent="0" marL="0">
              <a:lnSpc>
                <a:spcPts val="2700"/>
              </a:lnSpc>
              <a:buNone/>
            </a:pPr>
            <a:r>
              <a:rPr lang="en-US" sz="1650" b="1" dirty="0">
                <a:solidFill>
                  <a:srgbClr val="403C4E"/>
                </a:solidFill>
                <a:latin typeface="Inter" pitchFamily="34" charset="0"/>
                <a:ea typeface="Inter" pitchFamily="34" charset="-122"/>
                <a:cs typeface="Inter" pitchFamily="34" charset="-120"/>
              </a:rPr>
              <a:t>Amazon sales transaction data</a:t>
            </a:r>
            <a:pPr algn="l" indent="0" marL="0">
              <a:lnSpc>
                <a:spcPts val="2700"/>
              </a:lnSpc>
              <a:buNone/>
            </a:pPr>
            <a:r>
              <a:rPr lang="en-US" sz="1650" dirty="0">
                <a:solidFill>
                  <a:srgbClr val="403C4E"/>
                </a:solidFill>
                <a:latin typeface="Inter" pitchFamily="34" charset="0"/>
                <a:ea typeface="Inter" pitchFamily="34" charset="-122"/>
                <a:cs typeface="Inter" pitchFamily="34" charset="-120"/>
              </a:rPr>
              <a:t> covering order-level details, time-based trends, product attributes, customer segmentation, fulfilment methods, and order outcomes.</a:t>
            </a:r>
            <a:endParaRPr lang="en-US" sz="1650" dirty="0"/>
          </a:p>
        </p:txBody>
      </p:sp>
      <p:sp>
        <p:nvSpPr>
          <p:cNvPr id="9" name="Text 6"/>
          <p:cNvSpPr/>
          <p:nvPr/>
        </p:nvSpPr>
        <p:spPr>
          <a:xfrm>
            <a:off x="751999" y="3786068"/>
            <a:ext cx="13126402" cy="687705"/>
          </a:xfrm>
          <a:prstGeom prst="rect">
            <a:avLst/>
          </a:prstGeom>
          <a:noFill/>
          <a:ln/>
        </p:spPr>
        <p:txBody>
          <a:bodyPr wrap="square" lIns="0" tIns="0" rIns="0" bIns="0" rtlCol="0" anchor="t"/>
          <a:lstStyle/>
          <a:p>
            <a:pPr algn="l" marL="342900" indent="-342900">
              <a:lnSpc>
                <a:spcPts val="2700"/>
              </a:lnSpc>
              <a:buSzPct val="100000"/>
              <a:buChar char="•"/>
            </a:pPr>
            <a:r>
              <a:rPr lang="en-US" sz="1650" dirty="0">
                <a:solidFill>
                  <a:srgbClr val="403C4E"/>
                </a:solidFill>
                <a:latin typeface="Inter" pitchFamily="34" charset="0"/>
                <a:ea typeface="Inter" pitchFamily="34" charset="-122"/>
                <a:cs typeface="Inter" pitchFamily="34" charset="-120"/>
              </a:rPr>
              <a:t>Key variables include sales metrics (</a:t>
            </a:r>
            <a:pPr algn="l" indent="0" marL="0">
              <a:lnSpc>
                <a:spcPts val="2700"/>
              </a:lnSpc>
              <a:buNone/>
            </a:pPr>
            <a:r>
              <a:rPr lang="en-US" sz="1650" b="1" dirty="0">
                <a:solidFill>
                  <a:srgbClr val="403C4E"/>
                </a:solidFill>
                <a:latin typeface="Inter" pitchFamily="34" charset="0"/>
                <a:ea typeface="Inter" pitchFamily="34" charset="-122"/>
                <a:cs typeface="Inter" pitchFamily="34" charset="-120"/>
              </a:rPr>
              <a:t>Amount, Quantity</a:t>
            </a:r>
            <a:pPr algn="l" indent="0" marL="0">
              <a:lnSpc>
                <a:spcPts val="2700"/>
              </a:lnSpc>
              <a:buNone/>
            </a:pPr>
            <a:r>
              <a:rPr lang="en-US" sz="1650" dirty="0">
                <a:solidFill>
                  <a:srgbClr val="403C4E"/>
                </a:solidFill>
                <a:latin typeface="Inter" pitchFamily="34" charset="0"/>
                <a:ea typeface="Inter" pitchFamily="34" charset="-122"/>
                <a:cs typeface="Inter" pitchFamily="34" charset="-120"/>
              </a:rPr>
              <a:t>), product details (</a:t>
            </a:r>
            <a:pPr algn="l" indent="0" marL="0">
              <a:lnSpc>
                <a:spcPts val="2700"/>
              </a:lnSpc>
              <a:buNone/>
            </a:pPr>
            <a:r>
              <a:rPr lang="en-US" sz="1650" b="1" dirty="0">
                <a:solidFill>
                  <a:srgbClr val="403C4E"/>
                </a:solidFill>
                <a:latin typeface="Inter" pitchFamily="34" charset="0"/>
                <a:ea typeface="Inter" pitchFamily="34" charset="-122"/>
                <a:cs typeface="Inter" pitchFamily="34" charset="-120"/>
              </a:rPr>
              <a:t>Category, Size</a:t>
            </a:r>
            <a:pPr algn="l" indent="0" marL="0">
              <a:lnSpc>
                <a:spcPts val="2700"/>
              </a:lnSpc>
              <a:buNone/>
            </a:pPr>
            <a:r>
              <a:rPr lang="en-US" sz="1650" dirty="0">
                <a:solidFill>
                  <a:srgbClr val="403C4E"/>
                </a:solidFill>
                <a:latin typeface="Inter" pitchFamily="34" charset="0"/>
                <a:ea typeface="Inter" pitchFamily="34" charset="-122"/>
                <a:cs typeface="Inter" pitchFamily="34" charset="-120"/>
              </a:rPr>
              <a:t>), operational fields </a:t>
            </a:r>
            <a:pPr algn="l" indent="0" marL="0">
              <a:lnSpc>
                <a:spcPts val="2700"/>
              </a:lnSpc>
              <a:buNone/>
            </a:pPr>
            <a:r>
              <a:rPr lang="en-US" sz="1650" b="1" dirty="0">
                <a:solidFill>
                  <a:srgbClr val="403C4E"/>
                </a:solidFill>
                <a:latin typeface="Inter" pitchFamily="34" charset="0"/>
                <a:ea typeface="Inter" pitchFamily="34" charset="-122"/>
                <a:cs typeface="Inter" pitchFamily="34" charset="-120"/>
              </a:rPr>
              <a:t>(Fulfilment, Ship-Service-Level, Courier Status, Fulfilled-By)</a:t>
            </a:r>
            <a:pPr algn="l" indent="0" marL="0">
              <a:lnSpc>
                <a:spcPts val="2700"/>
              </a:lnSpc>
              <a:buNone/>
            </a:pPr>
            <a:r>
              <a:rPr lang="en-US" sz="1650" dirty="0">
                <a:solidFill>
                  <a:srgbClr val="403C4E"/>
                </a:solidFill>
                <a:latin typeface="Inter" pitchFamily="34" charset="0"/>
                <a:ea typeface="Inter" pitchFamily="34" charset="-122"/>
                <a:cs typeface="Inter" pitchFamily="34" charset="-120"/>
              </a:rPr>
              <a:t>, and order status indicators </a:t>
            </a:r>
            <a:pPr algn="l" indent="0" marL="0">
              <a:lnSpc>
                <a:spcPts val="2700"/>
              </a:lnSpc>
              <a:buNone/>
            </a:pPr>
            <a:r>
              <a:rPr lang="en-US" sz="1650" b="1" dirty="0">
                <a:solidFill>
                  <a:srgbClr val="403C4E"/>
                </a:solidFill>
                <a:latin typeface="Inter" pitchFamily="34" charset="0"/>
                <a:ea typeface="Inter" pitchFamily="34" charset="-122"/>
                <a:cs typeface="Inter" pitchFamily="34" charset="-120"/>
              </a:rPr>
              <a:t>(Delivered, Cancelled)</a:t>
            </a:r>
            <a:pPr algn="l" indent="0" marL="0">
              <a:lnSpc>
                <a:spcPts val="2700"/>
              </a:lnSpc>
              <a:buNone/>
            </a:pPr>
            <a:r>
              <a:rPr lang="en-US" sz="1650" dirty="0">
                <a:solidFill>
                  <a:srgbClr val="403C4E"/>
                </a:solidFill>
                <a:latin typeface="Inter" pitchFamily="34" charset="0"/>
                <a:ea typeface="Inter" pitchFamily="34" charset="-122"/>
                <a:cs typeface="Inter" pitchFamily="34" charset="-120"/>
              </a:rPr>
              <a:t>.</a:t>
            </a:r>
            <a:endParaRPr lang="en-US" sz="1650" dirty="0"/>
          </a:p>
        </p:txBody>
      </p:sp>
      <p:sp>
        <p:nvSpPr>
          <p:cNvPr id="10" name="Text 7"/>
          <p:cNvSpPr/>
          <p:nvPr/>
        </p:nvSpPr>
        <p:spPr>
          <a:xfrm>
            <a:off x="751999" y="4548902"/>
            <a:ext cx="13126402" cy="687705"/>
          </a:xfrm>
          <a:prstGeom prst="rect">
            <a:avLst/>
          </a:prstGeom>
          <a:noFill/>
          <a:ln/>
        </p:spPr>
        <p:txBody>
          <a:bodyPr wrap="square" lIns="0" tIns="0" rIns="0" bIns="0" rtlCol="0" anchor="t"/>
          <a:lstStyle/>
          <a:p>
            <a:pPr algn="l" marL="342900" indent="-342900">
              <a:lnSpc>
                <a:spcPts val="2700"/>
              </a:lnSpc>
              <a:buSzPct val="100000"/>
              <a:buChar char="•"/>
            </a:pPr>
            <a:r>
              <a:rPr lang="en-US" sz="1650" b="1" dirty="0">
                <a:solidFill>
                  <a:srgbClr val="403C4E"/>
                </a:solidFill>
                <a:latin typeface="Inter" pitchFamily="34" charset="0"/>
                <a:ea typeface="Inter" pitchFamily="34" charset="-122"/>
                <a:cs typeface="Inter" pitchFamily="34" charset="-120"/>
              </a:rPr>
              <a:t>Geographical dimensions</a:t>
            </a:r>
            <a:pPr algn="l" indent="0" marL="0">
              <a:lnSpc>
                <a:spcPts val="2700"/>
              </a:lnSpc>
              <a:buNone/>
            </a:pPr>
            <a:r>
              <a:rPr lang="en-US" sz="1650" dirty="0">
                <a:solidFill>
                  <a:srgbClr val="403C4E"/>
                </a:solidFill>
                <a:latin typeface="Inter" pitchFamily="34" charset="0"/>
                <a:ea typeface="Inter" pitchFamily="34" charset="-122"/>
                <a:cs typeface="Inter" pitchFamily="34" charset="-120"/>
              </a:rPr>
              <a:t> such as </a:t>
            </a:r>
            <a:pPr algn="l" indent="0" marL="0">
              <a:lnSpc>
                <a:spcPts val="2700"/>
              </a:lnSpc>
              <a:buNone/>
            </a:pPr>
            <a:r>
              <a:rPr lang="en-US" sz="1650" b="1" dirty="0">
                <a:solidFill>
                  <a:srgbClr val="403C4E"/>
                </a:solidFill>
                <a:latin typeface="Inter" pitchFamily="34" charset="0"/>
                <a:ea typeface="Inter" pitchFamily="34" charset="-122"/>
                <a:cs typeface="Inter" pitchFamily="34" charset="-120"/>
              </a:rPr>
              <a:t>Ship-City, Ship-State, Ship-Postal-Code, and Ship-Country</a:t>
            </a:r>
            <a:pPr algn="l" indent="0" marL="0">
              <a:lnSpc>
                <a:spcPts val="2700"/>
              </a:lnSpc>
              <a:buNone/>
            </a:pPr>
            <a:r>
              <a:rPr lang="en-US" sz="1650" dirty="0">
                <a:solidFill>
                  <a:srgbClr val="403C4E"/>
                </a:solidFill>
                <a:latin typeface="Inter" pitchFamily="34" charset="0"/>
                <a:ea typeface="Inter" pitchFamily="34" charset="-122"/>
                <a:cs typeface="Inter" pitchFamily="34" charset="-120"/>
              </a:rPr>
              <a:t> enable location-based performance and cancellation analysis.</a:t>
            </a:r>
            <a:endParaRPr lang="en-US" sz="1650" dirty="0"/>
          </a:p>
        </p:txBody>
      </p:sp>
      <p:sp>
        <p:nvSpPr>
          <p:cNvPr id="11" name="Text 8"/>
          <p:cNvSpPr/>
          <p:nvPr/>
        </p:nvSpPr>
        <p:spPr>
          <a:xfrm>
            <a:off x="751999" y="5558909"/>
            <a:ext cx="3223260" cy="402788"/>
          </a:xfrm>
          <a:prstGeom prst="rect">
            <a:avLst/>
          </a:prstGeom>
          <a:noFill/>
          <a:ln/>
        </p:spPr>
        <p:txBody>
          <a:bodyPr wrap="none" lIns="0" tIns="0" rIns="0" bIns="0" rtlCol="0" anchor="t"/>
          <a:lstStyle/>
          <a:p>
            <a:pPr algn="l" indent="0" marL="0">
              <a:lnSpc>
                <a:spcPts val="3150"/>
              </a:lnSpc>
              <a:buNone/>
            </a:pPr>
            <a:r>
              <a:rPr lang="en-US" sz="2500" b="1" dirty="0">
                <a:solidFill>
                  <a:srgbClr val="403C4E"/>
                </a:solidFill>
                <a:latin typeface="Inter Bold" pitchFamily="34" charset="0"/>
                <a:ea typeface="Inter Bold" pitchFamily="34" charset="-122"/>
                <a:cs typeface="Inter Bold" pitchFamily="34" charset="-120"/>
              </a:rPr>
              <a:t>Methodology</a:t>
            </a:r>
            <a:endParaRPr lang="en-US" sz="2500" dirty="0"/>
          </a:p>
        </p:txBody>
      </p:sp>
      <p:sp>
        <p:nvSpPr>
          <p:cNvPr id="12" name="Text 9"/>
          <p:cNvSpPr/>
          <p:nvPr/>
        </p:nvSpPr>
        <p:spPr>
          <a:xfrm>
            <a:off x="751999" y="6284000"/>
            <a:ext cx="13126402" cy="343853"/>
          </a:xfrm>
          <a:prstGeom prst="rect">
            <a:avLst/>
          </a:prstGeom>
          <a:noFill/>
          <a:ln/>
        </p:spPr>
        <p:txBody>
          <a:bodyPr wrap="none" lIns="0" tIns="0" rIns="0" bIns="0" rtlCol="0" anchor="t"/>
          <a:lstStyle/>
          <a:p>
            <a:pPr algn="l" marL="342900" indent="-342900">
              <a:lnSpc>
                <a:spcPts val="2700"/>
              </a:lnSpc>
              <a:buSzPct val="100000"/>
              <a:buChar char="•"/>
            </a:pPr>
            <a:r>
              <a:rPr lang="en-US" sz="1650" b="1" dirty="0">
                <a:solidFill>
                  <a:srgbClr val="403C4E"/>
                </a:solidFill>
                <a:latin typeface="Inter" pitchFamily="34" charset="0"/>
                <a:ea typeface="Inter" pitchFamily="34" charset="-122"/>
                <a:cs typeface="Inter" pitchFamily="34" charset="-120"/>
              </a:rPr>
              <a:t>Python</a:t>
            </a:r>
            <a:pPr algn="l" indent="0" marL="0">
              <a:lnSpc>
                <a:spcPts val="2700"/>
              </a:lnSpc>
              <a:buNone/>
            </a:pPr>
            <a:r>
              <a:rPr lang="en-US" sz="1650" dirty="0">
                <a:solidFill>
                  <a:srgbClr val="403C4E"/>
                </a:solidFill>
                <a:latin typeface="Inter" pitchFamily="34" charset="0"/>
                <a:ea typeface="Inter" pitchFamily="34" charset="-122"/>
                <a:cs typeface="Inter" pitchFamily="34" charset="-120"/>
              </a:rPr>
              <a:t> was used for data cleaning, preprocessing, and exploratory data analysis to identify trends and patterns.</a:t>
            </a:r>
            <a:endParaRPr lang="en-US" sz="1650" dirty="0"/>
          </a:p>
        </p:txBody>
      </p:sp>
      <p:sp>
        <p:nvSpPr>
          <p:cNvPr id="13" name="Text 10"/>
          <p:cNvSpPr/>
          <p:nvPr/>
        </p:nvSpPr>
        <p:spPr>
          <a:xfrm>
            <a:off x="751999" y="6702981"/>
            <a:ext cx="13126402" cy="343853"/>
          </a:xfrm>
          <a:prstGeom prst="rect">
            <a:avLst/>
          </a:prstGeom>
          <a:noFill/>
          <a:ln/>
        </p:spPr>
        <p:txBody>
          <a:bodyPr wrap="none" lIns="0" tIns="0" rIns="0" bIns="0" rtlCol="0" anchor="t"/>
          <a:lstStyle/>
          <a:p>
            <a:pPr algn="l" marL="342900" indent="-342900">
              <a:lnSpc>
                <a:spcPts val="2700"/>
              </a:lnSpc>
              <a:buSzPct val="100000"/>
              <a:buChar char="•"/>
            </a:pPr>
            <a:r>
              <a:rPr lang="en-US" sz="1650" b="1" dirty="0">
                <a:solidFill>
                  <a:srgbClr val="403C4E"/>
                </a:solidFill>
                <a:latin typeface="Inter" pitchFamily="34" charset="0"/>
                <a:ea typeface="Inter" pitchFamily="34" charset="-122"/>
                <a:cs typeface="Inter" pitchFamily="34" charset="-120"/>
              </a:rPr>
              <a:t>SQL</a:t>
            </a:r>
            <a:pPr algn="l" indent="0" marL="0">
              <a:lnSpc>
                <a:spcPts val="2700"/>
              </a:lnSpc>
              <a:buNone/>
            </a:pPr>
            <a:r>
              <a:rPr lang="en-US" sz="1650" dirty="0">
                <a:solidFill>
                  <a:srgbClr val="403C4E"/>
                </a:solidFill>
                <a:latin typeface="Inter" pitchFamily="34" charset="0"/>
                <a:ea typeface="Inter" pitchFamily="34" charset="-122"/>
                <a:cs typeface="Inter" pitchFamily="34" charset="-120"/>
              </a:rPr>
              <a:t> supported metric validation and structured aggregation for key KPIs.</a:t>
            </a:r>
            <a:endParaRPr lang="en-US" sz="1650" dirty="0"/>
          </a:p>
        </p:txBody>
      </p:sp>
      <p:sp>
        <p:nvSpPr>
          <p:cNvPr id="14" name="Text 11"/>
          <p:cNvSpPr/>
          <p:nvPr/>
        </p:nvSpPr>
        <p:spPr>
          <a:xfrm>
            <a:off x="751999" y="7121962"/>
            <a:ext cx="13126402" cy="343853"/>
          </a:xfrm>
          <a:prstGeom prst="rect">
            <a:avLst/>
          </a:prstGeom>
          <a:noFill/>
          <a:ln/>
        </p:spPr>
        <p:txBody>
          <a:bodyPr wrap="none" lIns="0" tIns="0" rIns="0" bIns="0" rtlCol="0" anchor="t"/>
          <a:lstStyle/>
          <a:p>
            <a:pPr algn="l" marL="342900" indent="-342900">
              <a:lnSpc>
                <a:spcPts val="2700"/>
              </a:lnSpc>
              <a:buSzPct val="100000"/>
              <a:buChar char="•"/>
            </a:pPr>
            <a:r>
              <a:rPr lang="en-US" sz="1650" dirty="0">
                <a:solidFill>
                  <a:srgbClr val="403C4E"/>
                </a:solidFill>
                <a:latin typeface="Inter" pitchFamily="34" charset="0"/>
                <a:ea typeface="Inter" pitchFamily="34" charset="-122"/>
                <a:cs typeface="Inter" pitchFamily="34" charset="-120"/>
              </a:rPr>
              <a:t>An </a:t>
            </a:r>
            <a:pPr algn="l" indent="0" marL="0">
              <a:lnSpc>
                <a:spcPts val="2700"/>
              </a:lnSpc>
              <a:buNone/>
            </a:pPr>
            <a:r>
              <a:rPr lang="en-US" sz="1650" b="1" dirty="0">
                <a:solidFill>
                  <a:srgbClr val="403C4E"/>
                </a:solidFill>
                <a:latin typeface="Inter" pitchFamily="34" charset="0"/>
                <a:ea typeface="Inter" pitchFamily="34" charset="-122"/>
                <a:cs typeface="Inter" pitchFamily="34" charset="-120"/>
              </a:rPr>
              <a:t>Interactive Tableau Dashboard</a:t>
            </a:r>
            <a:pPr algn="l" indent="0" marL="0">
              <a:lnSpc>
                <a:spcPts val="2700"/>
              </a:lnSpc>
              <a:buNone/>
            </a:pPr>
            <a:r>
              <a:rPr lang="en-US" sz="1650" dirty="0">
                <a:solidFill>
                  <a:srgbClr val="403C4E"/>
                </a:solidFill>
                <a:latin typeface="Inter" pitchFamily="34" charset="0"/>
                <a:ea typeface="Inter" pitchFamily="34" charset="-122"/>
                <a:cs typeface="Inter" pitchFamily="34" charset="-120"/>
              </a:rPr>
              <a:t> was developed to visualise insights and support data-driven business decision-making.</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81526" y="614005"/>
            <a:ext cx="4466153" cy="558165"/>
          </a:xfrm>
          <a:prstGeom prst="rect">
            <a:avLst/>
          </a:prstGeom>
          <a:noFill/>
          <a:ln/>
        </p:spPr>
        <p:txBody>
          <a:bodyPr wrap="none" lIns="0" tIns="0" rIns="0" bIns="0" rtlCol="0" anchor="t"/>
          <a:lstStyle/>
          <a:p>
            <a:pPr algn="l" indent="0" marL="0">
              <a:lnSpc>
                <a:spcPts val="4350"/>
              </a:lnSpc>
              <a:buNone/>
            </a:pPr>
            <a:r>
              <a:rPr lang="en-US" sz="3500" b="1" dirty="0">
                <a:solidFill>
                  <a:srgbClr val="403C4E"/>
                </a:solidFill>
                <a:latin typeface="Inter Bold" pitchFamily="34" charset="0"/>
                <a:ea typeface="Inter Bold" pitchFamily="34" charset="-122"/>
                <a:cs typeface="Inter Bold" pitchFamily="34" charset="-120"/>
              </a:rPr>
              <a:t>Strategic Objectives</a:t>
            </a:r>
            <a:endParaRPr lang="en-US" sz="3500" dirty="0"/>
          </a:p>
        </p:txBody>
      </p:sp>
      <p:sp>
        <p:nvSpPr>
          <p:cNvPr id="3" name="Text 1"/>
          <p:cNvSpPr/>
          <p:nvPr/>
        </p:nvSpPr>
        <p:spPr>
          <a:xfrm>
            <a:off x="781526" y="1618774"/>
            <a:ext cx="13067348" cy="714613"/>
          </a:xfrm>
          <a:prstGeom prst="rect">
            <a:avLst/>
          </a:prstGeom>
          <a:noFill/>
          <a:ln/>
        </p:spPr>
        <p:txBody>
          <a:bodyPr wrap="square" lIns="0" tIns="0" rIns="0" bIns="0" rtlCol="0" anchor="t"/>
          <a:lstStyle/>
          <a:p>
            <a:pPr algn="l" indent="0" marL="0">
              <a:lnSpc>
                <a:spcPts val="2800"/>
              </a:lnSpc>
              <a:buNone/>
            </a:pPr>
            <a:r>
              <a:rPr lang="en-US" sz="1750" dirty="0">
                <a:solidFill>
                  <a:srgbClr val="403C4E"/>
                </a:solidFill>
                <a:latin typeface="Inter" pitchFamily="34" charset="0"/>
                <a:ea typeface="Inter" pitchFamily="34" charset="-122"/>
                <a:cs typeface="Inter" pitchFamily="34" charset="-120"/>
              </a:rPr>
              <a:t>This project aims to transform raw transactional data into actionable business intelligence across five key analytical dimensions:</a:t>
            </a:r>
            <a:endParaRPr lang="en-US" sz="1750" dirty="0"/>
          </a:p>
        </p:txBody>
      </p:sp>
      <p:sp>
        <p:nvSpPr>
          <p:cNvPr id="4" name="Shape 2"/>
          <p:cNvSpPr/>
          <p:nvPr/>
        </p:nvSpPr>
        <p:spPr>
          <a:xfrm>
            <a:off x="781526" y="2584609"/>
            <a:ext cx="4206954" cy="2582704"/>
          </a:xfrm>
          <a:prstGeom prst="roundRect">
            <a:avLst>
              <a:gd name="adj" fmla="val 354"/>
            </a:avLst>
          </a:prstGeom>
          <a:solidFill>
            <a:srgbClr val="F2EEEE"/>
          </a:solidFill>
          <a:ln w="22860">
            <a:solidFill>
              <a:srgbClr val="D8D4D4"/>
            </a:solidFill>
            <a:prstDash val="solid"/>
          </a:ln>
        </p:spPr>
      </p:sp>
      <p:sp>
        <p:nvSpPr>
          <p:cNvPr id="5" name="Shape 3"/>
          <p:cNvSpPr/>
          <p:nvPr/>
        </p:nvSpPr>
        <p:spPr>
          <a:xfrm>
            <a:off x="1027628" y="2830711"/>
            <a:ext cx="669846" cy="669846"/>
          </a:xfrm>
          <a:prstGeom prst="roundRect">
            <a:avLst>
              <a:gd name="adj" fmla="val 13649534"/>
            </a:avLst>
          </a:prstGeom>
          <a:solidFill>
            <a:srgbClr val="FFAD94"/>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11818" y="3014782"/>
            <a:ext cx="301466" cy="301466"/>
          </a:xfrm>
          <a:prstGeom prst="rect">
            <a:avLst/>
          </a:prstGeom>
        </p:spPr>
      </p:pic>
      <p:sp>
        <p:nvSpPr>
          <p:cNvPr id="7" name="Text 4"/>
          <p:cNvSpPr/>
          <p:nvPr/>
        </p:nvSpPr>
        <p:spPr>
          <a:xfrm>
            <a:off x="1027628" y="3723799"/>
            <a:ext cx="2791301" cy="348853"/>
          </a:xfrm>
          <a:prstGeom prst="rect">
            <a:avLst/>
          </a:prstGeom>
          <a:noFill/>
          <a:ln/>
        </p:spPr>
        <p:txBody>
          <a:bodyPr wrap="none" lIns="0" tIns="0" rIns="0" bIns="0" rtlCol="0" anchor="t"/>
          <a:lstStyle/>
          <a:p>
            <a:pPr algn="l" indent="0" marL="0">
              <a:lnSpc>
                <a:spcPts val="2700"/>
              </a:lnSpc>
              <a:buNone/>
            </a:pPr>
            <a:r>
              <a:rPr lang="en-US" sz="2150" b="1" dirty="0">
                <a:solidFill>
                  <a:srgbClr val="403C4E"/>
                </a:solidFill>
                <a:latin typeface="Inter Bold" pitchFamily="34" charset="0"/>
                <a:ea typeface="Inter Bold" pitchFamily="34" charset="-122"/>
                <a:cs typeface="Inter Bold" pitchFamily="34" charset="-120"/>
              </a:rPr>
              <a:t>Sales Performance</a:t>
            </a:r>
            <a:endParaRPr lang="en-US" sz="2150" dirty="0"/>
          </a:p>
        </p:txBody>
      </p:sp>
      <p:sp>
        <p:nvSpPr>
          <p:cNvPr id="8" name="Text 5"/>
          <p:cNvSpPr/>
          <p:nvPr/>
        </p:nvSpPr>
        <p:spPr>
          <a:xfrm>
            <a:off x="1027628" y="4206597"/>
            <a:ext cx="3714750" cy="714613"/>
          </a:xfrm>
          <a:prstGeom prst="rect">
            <a:avLst/>
          </a:prstGeom>
          <a:noFill/>
          <a:ln/>
        </p:spPr>
        <p:txBody>
          <a:bodyPr wrap="square" lIns="0" tIns="0" rIns="0" bIns="0" rtlCol="0" anchor="t"/>
          <a:lstStyle/>
          <a:p>
            <a:pPr algn="l" indent="0" marL="0">
              <a:lnSpc>
                <a:spcPts val="2800"/>
              </a:lnSpc>
              <a:buNone/>
            </a:pPr>
            <a:r>
              <a:rPr lang="en-US" sz="1750" dirty="0">
                <a:solidFill>
                  <a:srgbClr val="403C4E"/>
                </a:solidFill>
                <a:latin typeface="Inter" pitchFamily="34" charset="0"/>
                <a:ea typeface="Inter" pitchFamily="34" charset="-122"/>
                <a:cs typeface="Inter" pitchFamily="34" charset="-120"/>
              </a:rPr>
              <a:t>Comprehensive revenue analysis and temporal trend identification</a:t>
            </a:r>
            <a:endParaRPr lang="en-US" sz="1750" dirty="0"/>
          </a:p>
        </p:txBody>
      </p:sp>
      <p:sp>
        <p:nvSpPr>
          <p:cNvPr id="9" name="Shape 6"/>
          <p:cNvSpPr/>
          <p:nvPr/>
        </p:nvSpPr>
        <p:spPr>
          <a:xfrm>
            <a:off x="5211723" y="2584609"/>
            <a:ext cx="4206954" cy="2582704"/>
          </a:xfrm>
          <a:prstGeom prst="roundRect">
            <a:avLst>
              <a:gd name="adj" fmla="val 354"/>
            </a:avLst>
          </a:prstGeom>
          <a:solidFill>
            <a:srgbClr val="F2EEEE"/>
          </a:solidFill>
          <a:ln w="22860">
            <a:solidFill>
              <a:srgbClr val="D8D4D4"/>
            </a:solidFill>
            <a:prstDash val="solid"/>
          </a:ln>
        </p:spPr>
      </p:sp>
      <p:sp>
        <p:nvSpPr>
          <p:cNvPr id="10" name="Shape 7"/>
          <p:cNvSpPr/>
          <p:nvPr/>
        </p:nvSpPr>
        <p:spPr>
          <a:xfrm>
            <a:off x="5457825" y="2830711"/>
            <a:ext cx="669846" cy="669846"/>
          </a:xfrm>
          <a:prstGeom prst="roundRect">
            <a:avLst>
              <a:gd name="adj" fmla="val 13649534"/>
            </a:avLst>
          </a:prstGeom>
          <a:solidFill>
            <a:srgbClr val="FFAD94"/>
          </a:solidFill>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42015" y="3014782"/>
            <a:ext cx="301466" cy="301466"/>
          </a:xfrm>
          <a:prstGeom prst="rect">
            <a:avLst/>
          </a:prstGeom>
        </p:spPr>
      </p:pic>
      <p:sp>
        <p:nvSpPr>
          <p:cNvPr id="12" name="Text 8"/>
          <p:cNvSpPr/>
          <p:nvPr/>
        </p:nvSpPr>
        <p:spPr>
          <a:xfrm>
            <a:off x="5457825" y="3723799"/>
            <a:ext cx="2791301" cy="348853"/>
          </a:xfrm>
          <a:prstGeom prst="rect">
            <a:avLst/>
          </a:prstGeom>
          <a:noFill/>
          <a:ln/>
        </p:spPr>
        <p:txBody>
          <a:bodyPr wrap="none" lIns="0" tIns="0" rIns="0" bIns="0" rtlCol="0" anchor="t"/>
          <a:lstStyle/>
          <a:p>
            <a:pPr algn="l" indent="0" marL="0">
              <a:lnSpc>
                <a:spcPts val="2700"/>
              </a:lnSpc>
              <a:buNone/>
            </a:pPr>
            <a:r>
              <a:rPr lang="en-US" sz="2150" b="1" dirty="0">
                <a:solidFill>
                  <a:srgbClr val="403C4E"/>
                </a:solidFill>
                <a:latin typeface="Inter Bold" pitchFamily="34" charset="0"/>
                <a:ea typeface="Inter Bold" pitchFamily="34" charset="-122"/>
                <a:cs typeface="Inter Bold" pitchFamily="34" charset="-120"/>
              </a:rPr>
              <a:t>Product Analysis</a:t>
            </a:r>
            <a:endParaRPr lang="en-US" sz="2150" dirty="0"/>
          </a:p>
        </p:txBody>
      </p:sp>
      <p:sp>
        <p:nvSpPr>
          <p:cNvPr id="13" name="Text 9"/>
          <p:cNvSpPr/>
          <p:nvPr/>
        </p:nvSpPr>
        <p:spPr>
          <a:xfrm>
            <a:off x="5457825" y="4206597"/>
            <a:ext cx="3714750" cy="714613"/>
          </a:xfrm>
          <a:prstGeom prst="rect">
            <a:avLst/>
          </a:prstGeom>
          <a:noFill/>
          <a:ln/>
        </p:spPr>
        <p:txBody>
          <a:bodyPr wrap="square" lIns="0" tIns="0" rIns="0" bIns="0" rtlCol="0" anchor="t"/>
          <a:lstStyle/>
          <a:p>
            <a:pPr algn="l" indent="0" marL="0">
              <a:lnSpc>
                <a:spcPts val="2800"/>
              </a:lnSpc>
              <a:buNone/>
            </a:pPr>
            <a:r>
              <a:rPr lang="en-US" sz="1750" dirty="0">
                <a:solidFill>
                  <a:srgbClr val="403C4E"/>
                </a:solidFill>
                <a:latin typeface="Inter" pitchFamily="34" charset="0"/>
                <a:ea typeface="Inter" pitchFamily="34" charset="-122"/>
                <a:cs typeface="Inter" pitchFamily="34" charset="-120"/>
              </a:rPr>
              <a:t>Category performance and inventory optimisation insights</a:t>
            </a:r>
            <a:endParaRPr lang="en-US" sz="1750" dirty="0"/>
          </a:p>
        </p:txBody>
      </p:sp>
      <p:sp>
        <p:nvSpPr>
          <p:cNvPr id="14" name="Shape 10"/>
          <p:cNvSpPr/>
          <p:nvPr/>
        </p:nvSpPr>
        <p:spPr>
          <a:xfrm>
            <a:off x="9641919" y="2584609"/>
            <a:ext cx="4206954" cy="2582704"/>
          </a:xfrm>
          <a:prstGeom prst="roundRect">
            <a:avLst>
              <a:gd name="adj" fmla="val 354"/>
            </a:avLst>
          </a:prstGeom>
          <a:solidFill>
            <a:srgbClr val="F2EEEE"/>
          </a:solidFill>
          <a:ln w="22860">
            <a:solidFill>
              <a:srgbClr val="D8D4D4"/>
            </a:solidFill>
            <a:prstDash val="solid"/>
          </a:ln>
        </p:spPr>
      </p:sp>
      <p:sp>
        <p:nvSpPr>
          <p:cNvPr id="15" name="Shape 11"/>
          <p:cNvSpPr/>
          <p:nvPr/>
        </p:nvSpPr>
        <p:spPr>
          <a:xfrm>
            <a:off x="9888022" y="2830711"/>
            <a:ext cx="669846" cy="669846"/>
          </a:xfrm>
          <a:prstGeom prst="roundRect">
            <a:avLst>
              <a:gd name="adj" fmla="val 13649534"/>
            </a:avLst>
          </a:prstGeom>
          <a:solidFill>
            <a:srgbClr val="FFAD94"/>
          </a:solidFill>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072211" y="3014782"/>
            <a:ext cx="301466" cy="301466"/>
          </a:xfrm>
          <a:prstGeom prst="rect">
            <a:avLst/>
          </a:prstGeom>
        </p:spPr>
      </p:pic>
      <p:sp>
        <p:nvSpPr>
          <p:cNvPr id="17" name="Text 12"/>
          <p:cNvSpPr/>
          <p:nvPr/>
        </p:nvSpPr>
        <p:spPr>
          <a:xfrm>
            <a:off x="9888022" y="3723799"/>
            <a:ext cx="2796421" cy="348853"/>
          </a:xfrm>
          <a:prstGeom prst="rect">
            <a:avLst/>
          </a:prstGeom>
          <a:noFill/>
          <a:ln/>
        </p:spPr>
        <p:txBody>
          <a:bodyPr wrap="none" lIns="0" tIns="0" rIns="0" bIns="0" rtlCol="0" anchor="t"/>
          <a:lstStyle/>
          <a:p>
            <a:pPr algn="l" indent="0" marL="0">
              <a:lnSpc>
                <a:spcPts val="2700"/>
              </a:lnSpc>
              <a:buNone/>
            </a:pPr>
            <a:r>
              <a:rPr lang="en-US" sz="2150" b="1" dirty="0">
                <a:solidFill>
                  <a:srgbClr val="403C4E"/>
                </a:solidFill>
                <a:latin typeface="Inter Bold" pitchFamily="34" charset="0"/>
                <a:ea typeface="Inter Bold" pitchFamily="34" charset="-122"/>
                <a:cs typeface="Inter Bold" pitchFamily="34" charset="-120"/>
              </a:rPr>
              <a:t>Fulfilment Efficiency</a:t>
            </a:r>
            <a:endParaRPr lang="en-US" sz="2150" dirty="0"/>
          </a:p>
        </p:txBody>
      </p:sp>
      <p:sp>
        <p:nvSpPr>
          <p:cNvPr id="18" name="Text 13"/>
          <p:cNvSpPr/>
          <p:nvPr/>
        </p:nvSpPr>
        <p:spPr>
          <a:xfrm>
            <a:off x="9888022" y="4206597"/>
            <a:ext cx="3714750" cy="714613"/>
          </a:xfrm>
          <a:prstGeom prst="rect">
            <a:avLst/>
          </a:prstGeom>
          <a:noFill/>
          <a:ln/>
        </p:spPr>
        <p:txBody>
          <a:bodyPr wrap="square" lIns="0" tIns="0" rIns="0" bIns="0" rtlCol="0" anchor="t"/>
          <a:lstStyle/>
          <a:p>
            <a:pPr algn="l" indent="0" marL="0">
              <a:lnSpc>
                <a:spcPts val="2800"/>
              </a:lnSpc>
              <a:buNone/>
            </a:pPr>
            <a:r>
              <a:rPr lang="en-US" sz="1750" dirty="0">
                <a:solidFill>
                  <a:srgbClr val="403C4E"/>
                </a:solidFill>
                <a:latin typeface="Inter" pitchFamily="34" charset="0"/>
                <a:ea typeface="Inter" pitchFamily="34" charset="-122"/>
                <a:cs typeface="Inter" pitchFamily="34" charset="-120"/>
              </a:rPr>
              <a:t>Logistics evaluation and cancellation pattern analysis</a:t>
            </a:r>
            <a:endParaRPr lang="en-US" sz="1750" dirty="0"/>
          </a:p>
        </p:txBody>
      </p:sp>
      <p:sp>
        <p:nvSpPr>
          <p:cNvPr id="19" name="Shape 14"/>
          <p:cNvSpPr/>
          <p:nvPr/>
        </p:nvSpPr>
        <p:spPr>
          <a:xfrm>
            <a:off x="781526" y="5390555"/>
            <a:ext cx="6421993" cy="2225397"/>
          </a:xfrm>
          <a:prstGeom prst="roundRect">
            <a:avLst>
              <a:gd name="adj" fmla="val 411"/>
            </a:avLst>
          </a:prstGeom>
          <a:solidFill>
            <a:srgbClr val="F2EEEE"/>
          </a:solidFill>
          <a:ln w="22860">
            <a:solidFill>
              <a:srgbClr val="D8D4D4"/>
            </a:solidFill>
            <a:prstDash val="solid"/>
          </a:ln>
        </p:spPr>
      </p:sp>
      <p:sp>
        <p:nvSpPr>
          <p:cNvPr id="20" name="Shape 15"/>
          <p:cNvSpPr/>
          <p:nvPr/>
        </p:nvSpPr>
        <p:spPr>
          <a:xfrm>
            <a:off x="1027628" y="5636657"/>
            <a:ext cx="669846" cy="669846"/>
          </a:xfrm>
          <a:prstGeom prst="roundRect">
            <a:avLst>
              <a:gd name="adj" fmla="val 13649534"/>
            </a:avLst>
          </a:prstGeom>
          <a:solidFill>
            <a:srgbClr val="FFAD94"/>
          </a:solidFill>
          <a:ln/>
        </p:spPr>
      </p:sp>
      <p:pic>
        <p:nvPicPr>
          <p:cNvPr id="2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11818" y="5820728"/>
            <a:ext cx="301466" cy="301466"/>
          </a:xfrm>
          <a:prstGeom prst="rect">
            <a:avLst/>
          </a:prstGeom>
        </p:spPr>
      </p:pic>
      <p:sp>
        <p:nvSpPr>
          <p:cNvPr id="22" name="Text 16"/>
          <p:cNvSpPr/>
          <p:nvPr/>
        </p:nvSpPr>
        <p:spPr>
          <a:xfrm>
            <a:off x="1027628" y="6529745"/>
            <a:ext cx="3316248" cy="348853"/>
          </a:xfrm>
          <a:prstGeom prst="rect">
            <a:avLst/>
          </a:prstGeom>
          <a:noFill/>
          <a:ln/>
        </p:spPr>
        <p:txBody>
          <a:bodyPr wrap="none" lIns="0" tIns="0" rIns="0" bIns="0" rtlCol="0" anchor="t"/>
          <a:lstStyle/>
          <a:p>
            <a:pPr algn="l" indent="0" marL="0">
              <a:lnSpc>
                <a:spcPts val="2700"/>
              </a:lnSpc>
              <a:buNone/>
            </a:pPr>
            <a:r>
              <a:rPr lang="en-US" sz="2150" b="1" dirty="0">
                <a:solidFill>
                  <a:srgbClr val="403C4E"/>
                </a:solidFill>
                <a:latin typeface="Inter Bold" pitchFamily="34" charset="0"/>
                <a:ea typeface="Inter Bold" pitchFamily="34" charset="-122"/>
                <a:cs typeface="Inter Bold" pitchFamily="34" charset="-120"/>
              </a:rPr>
              <a:t>Customer Segmentation</a:t>
            </a:r>
            <a:endParaRPr lang="en-US" sz="2150" dirty="0"/>
          </a:p>
        </p:txBody>
      </p:sp>
      <p:sp>
        <p:nvSpPr>
          <p:cNvPr id="23" name="Text 17"/>
          <p:cNvSpPr/>
          <p:nvPr/>
        </p:nvSpPr>
        <p:spPr>
          <a:xfrm>
            <a:off x="1027628" y="7012543"/>
            <a:ext cx="5929789" cy="357307"/>
          </a:xfrm>
          <a:prstGeom prst="rect">
            <a:avLst/>
          </a:prstGeom>
          <a:noFill/>
          <a:ln/>
        </p:spPr>
        <p:txBody>
          <a:bodyPr wrap="none" lIns="0" tIns="0" rIns="0" bIns="0" rtlCol="0" anchor="t"/>
          <a:lstStyle/>
          <a:p>
            <a:pPr algn="l" indent="0" marL="0">
              <a:lnSpc>
                <a:spcPts val="2800"/>
              </a:lnSpc>
              <a:buNone/>
            </a:pPr>
            <a:r>
              <a:rPr lang="en-US" sz="1750" dirty="0">
                <a:solidFill>
                  <a:srgbClr val="403C4E"/>
                </a:solidFill>
                <a:latin typeface="Inter" pitchFamily="34" charset="0"/>
                <a:ea typeface="Inter" pitchFamily="34" charset="-122"/>
                <a:cs typeface="Inter" pitchFamily="34" charset="-120"/>
              </a:rPr>
              <a:t>B2B versus B2C behavioural comparison</a:t>
            </a:r>
            <a:endParaRPr lang="en-US" sz="1750" dirty="0"/>
          </a:p>
        </p:txBody>
      </p:sp>
      <p:sp>
        <p:nvSpPr>
          <p:cNvPr id="24" name="Shape 18"/>
          <p:cNvSpPr/>
          <p:nvPr/>
        </p:nvSpPr>
        <p:spPr>
          <a:xfrm>
            <a:off x="7426762" y="5390555"/>
            <a:ext cx="6422112" cy="2225397"/>
          </a:xfrm>
          <a:prstGeom prst="roundRect">
            <a:avLst>
              <a:gd name="adj" fmla="val 411"/>
            </a:avLst>
          </a:prstGeom>
          <a:solidFill>
            <a:srgbClr val="F2EEEE"/>
          </a:solidFill>
          <a:ln w="22860">
            <a:solidFill>
              <a:srgbClr val="D8D4D4"/>
            </a:solidFill>
            <a:prstDash val="solid"/>
          </a:ln>
        </p:spPr>
      </p:sp>
      <p:sp>
        <p:nvSpPr>
          <p:cNvPr id="25" name="Shape 19"/>
          <p:cNvSpPr/>
          <p:nvPr/>
        </p:nvSpPr>
        <p:spPr>
          <a:xfrm>
            <a:off x="7672864" y="5636657"/>
            <a:ext cx="669846" cy="669846"/>
          </a:xfrm>
          <a:prstGeom prst="roundRect">
            <a:avLst>
              <a:gd name="adj" fmla="val 13649534"/>
            </a:avLst>
          </a:prstGeom>
          <a:solidFill>
            <a:srgbClr val="FFAD94"/>
          </a:solidFill>
          <a:ln/>
        </p:spPr>
      </p:sp>
      <p:pic>
        <p:nvPicPr>
          <p:cNvPr id="2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857053" y="5820728"/>
            <a:ext cx="301466" cy="301466"/>
          </a:xfrm>
          <a:prstGeom prst="rect">
            <a:avLst/>
          </a:prstGeom>
        </p:spPr>
      </p:pic>
      <p:sp>
        <p:nvSpPr>
          <p:cNvPr id="27" name="Text 20"/>
          <p:cNvSpPr/>
          <p:nvPr/>
        </p:nvSpPr>
        <p:spPr>
          <a:xfrm>
            <a:off x="7672864" y="6529745"/>
            <a:ext cx="3249335" cy="348853"/>
          </a:xfrm>
          <a:prstGeom prst="rect">
            <a:avLst/>
          </a:prstGeom>
          <a:noFill/>
          <a:ln/>
        </p:spPr>
        <p:txBody>
          <a:bodyPr wrap="none" lIns="0" tIns="0" rIns="0" bIns="0" rtlCol="0" anchor="t"/>
          <a:lstStyle/>
          <a:p>
            <a:pPr algn="l" indent="0" marL="0">
              <a:lnSpc>
                <a:spcPts val="2700"/>
              </a:lnSpc>
              <a:buNone/>
            </a:pPr>
            <a:r>
              <a:rPr lang="en-US" sz="2150" b="1" dirty="0">
                <a:solidFill>
                  <a:srgbClr val="403C4E"/>
                </a:solidFill>
                <a:latin typeface="Inter Bold" pitchFamily="34" charset="0"/>
                <a:ea typeface="Inter Bold" pitchFamily="34" charset="-122"/>
                <a:cs typeface="Inter Bold" pitchFamily="34" charset="-120"/>
              </a:rPr>
              <a:t>Geographic Distribution</a:t>
            </a:r>
            <a:endParaRPr lang="en-US" sz="2150" dirty="0"/>
          </a:p>
        </p:txBody>
      </p:sp>
      <p:sp>
        <p:nvSpPr>
          <p:cNvPr id="28" name="Text 21"/>
          <p:cNvSpPr/>
          <p:nvPr/>
        </p:nvSpPr>
        <p:spPr>
          <a:xfrm>
            <a:off x="7672864" y="7012543"/>
            <a:ext cx="5929908" cy="357307"/>
          </a:xfrm>
          <a:prstGeom prst="rect">
            <a:avLst/>
          </a:prstGeom>
          <a:noFill/>
          <a:ln/>
        </p:spPr>
        <p:txBody>
          <a:bodyPr wrap="none" lIns="0" tIns="0" rIns="0" bIns="0" rtlCol="0" anchor="t"/>
          <a:lstStyle/>
          <a:p>
            <a:pPr algn="l" indent="0" marL="0">
              <a:lnSpc>
                <a:spcPts val="2800"/>
              </a:lnSpc>
              <a:buNone/>
            </a:pPr>
            <a:r>
              <a:rPr lang="en-US" sz="1750" dirty="0">
                <a:solidFill>
                  <a:srgbClr val="403C4E"/>
                </a:solidFill>
                <a:latin typeface="Inter" pitchFamily="34" charset="0"/>
                <a:ea typeface="Inter" pitchFamily="34" charset="-122"/>
                <a:cs typeface="Inter" pitchFamily="34" charset="-120"/>
              </a:rPr>
              <a:t>Regional revenue patterns and market opportunities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93790" y="779502"/>
            <a:ext cx="2012275" cy="456724"/>
          </a:xfrm>
          <a:prstGeom prst="roundRect">
            <a:avLst>
              <a:gd name="adj" fmla="val 2002"/>
            </a:avLst>
          </a:prstGeom>
          <a:noFill/>
          <a:ln w="15240">
            <a:solidFill>
              <a:srgbClr val="FFAD94"/>
            </a:solidFill>
            <a:prstDash val="solid"/>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45118" y="917138"/>
            <a:ext cx="181451" cy="181451"/>
          </a:xfrm>
          <a:prstGeom prst="rect">
            <a:avLst/>
          </a:prstGeom>
        </p:spPr>
      </p:pic>
      <p:sp>
        <p:nvSpPr>
          <p:cNvPr id="4" name="Text 1"/>
          <p:cNvSpPr/>
          <p:nvPr/>
        </p:nvSpPr>
        <p:spPr>
          <a:xfrm>
            <a:off x="1217295" y="862727"/>
            <a:ext cx="1437442" cy="290274"/>
          </a:xfrm>
          <a:prstGeom prst="rect">
            <a:avLst/>
          </a:prstGeom>
          <a:noFill/>
          <a:ln/>
        </p:spPr>
        <p:txBody>
          <a:bodyPr wrap="none" lIns="0" tIns="0" rIns="0" bIns="0" rtlCol="0" anchor="t"/>
          <a:lstStyle/>
          <a:p>
            <a:pPr algn="l" indent="0" marL="0">
              <a:lnSpc>
                <a:spcPts val="2250"/>
              </a:lnSpc>
              <a:buNone/>
            </a:pPr>
            <a:r>
              <a:rPr lang="en-US" sz="1400" dirty="0">
                <a:solidFill>
                  <a:srgbClr val="FFAD94"/>
                </a:solidFill>
                <a:latin typeface="Inter" pitchFamily="34" charset="0"/>
                <a:ea typeface="Inter" pitchFamily="34" charset="-122"/>
                <a:cs typeface="Inter" pitchFamily="34" charset="-120"/>
              </a:rPr>
              <a:t>OBJECTIVE ONE</a:t>
            </a:r>
            <a:endParaRPr lang="en-US" sz="1400" dirty="0"/>
          </a:p>
        </p:txBody>
      </p:sp>
      <p:sp>
        <p:nvSpPr>
          <p:cNvPr id="5" name="Text 2"/>
          <p:cNvSpPr/>
          <p:nvPr/>
        </p:nvSpPr>
        <p:spPr>
          <a:xfrm>
            <a:off x="793790" y="1326952"/>
            <a:ext cx="8642628" cy="566976"/>
          </a:xfrm>
          <a:prstGeom prst="rect">
            <a:avLst/>
          </a:prstGeom>
          <a:noFill/>
          <a:ln/>
        </p:spPr>
        <p:txBody>
          <a:bodyPr wrap="none" lIns="0" tIns="0" rIns="0" bIns="0" rtlCol="0" anchor="t"/>
          <a:lstStyle/>
          <a:p>
            <a:pPr algn="l" indent="0" marL="0">
              <a:lnSpc>
                <a:spcPts val="4450"/>
              </a:lnSpc>
              <a:buNone/>
            </a:pPr>
            <a:r>
              <a:rPr lang="en-US" sz="3550" b="1" dirty="0">
                <a:solidFill>
                  <a:srgbClr val="403C4E"/>
                </a:solidFill>
                <a:latin typeface="Inter Bold" pitchFamily="34" charset="0"/>
                <a:ea typeface="Inter Bold" pitchFamily="34" charset="-122"/>
                <a:cs typeface="Inter Bold" pitchFamily="34" charset="-120"/>
              </a:rPr>
              <a:t>Sales Overview: Performance &amp; Trends</a:t>
            </a:r>
            <a:endParaRPr lang="en-US" sz="3550" dirty="0"/>
          </a:p>
        </p:txBody>
      </p:sp>
      <p:sp>
        <p:nvSpPr>
          <p:cNvPr id="6" name="Text 3"/>
          <p:cNvSpPr/>
          <p:nvPr/>
        </p:nvSpPr>
        <p:spPr>
          <a:xfrm>
            <a:off x="793790" y="2347436"/>
            <a:ext cx="3048000" cy="453628"/>
          </a:xfrm>
          <a:prstGeom prst="rect">
            <a:avLst/>
          </a:prstGeom>
          <a:noFill/>
          <a:ln/>
        </p:spPr>
        <p:txBody>
          <a:bodyPr wrap="none" lIns="0" tIns="0" rIns="0" bIns="0" rtlCol="0" anchor="t"/>
          <a:lstStyle/>
          <a:p>
            <a:pPr algn="ctr" indent="0" marL="0">
              <a:lnSpc>
                <a:spcPts val="3550"/>
              </a:lnSpc>
              <a:buNone/>
            </a:pPr>
            <a:r>
              <a:rPr lang="en-US" sz="3550" b="1" dirty="0">
                <a:solidFill>
                  <a:srgbClr val="403C4E"/>
                </a:solidFill>
                <a:latin typeface="Inter Bold" pitchFamily="34" charset="0"/>
                <a:ea typeface="Inter Bold" pitchFamily="34" charset="-122"/>
                <a:cs typeface="Inter Bold" pitchFamily="34" charset="-120"/>
              </a:rPr>
              <a:t>₹78.46 Cr</a:t>
            </a:r>
            <a:endParaRPr lang="en-US" sz="3550" dirty="0"/>
          </a:p>
        </p:txBody>
      </p:sp>
      <p:sp>
        <p:nvSpPr>
          <p:cNvPr id="7" name="Text 4"/>
          <p:cNvSpPr/>
          <p:nvPr/>
        </p:nvSpPr>
        <p:spPr>
          <a:xfrm>
            <a:off x="900113" y="3084433"/>
            <a:ext cx="2835235" cy="354330"/>
          </a:xfrm>
          <a:prstGeom prst="rect">
            <a:avLst/>
          </a:prstGeom>
          <a:noFill/>
          <a:ln/>
        </p:spPr>
        <p:txBody>
          <a:bodyPr wrap="none" lIns="0" tIns="0" rIns="0" bIns="0" rtlCol="0" anchor="t"/>
          <a:lstStyle/>
          <a:p>
            <a:pPr algn="ctr" indent="0" marL="0">
              <a:lnSpc>
                <a:spcPts val="2750"/>
              </a:lnSpc>
              <a:buNone/>
            </a:pPr>
            <a:r>
              <a:rPr lang="en-US" sz="2200" b="1" dirty="0">
                <a:solidFill>
                  <a:srgbClr val="403C4E"/>
                </a:solidFill>
                <a:latin typeface="Inter Bold" pitchFamily="34" charset="0"/>
                <a:ea typeface="Inter Bold" pitchFamily="34" charset="-122"/>
                <a:cs typeface="Inter Bold" pitchFamily="34" charset="-120"/>
              </a:rPr>
              <a:t>Total Revenue</a:t>
            </a:r>
            <a:endParaRPr lang="en-US" sz="2200" dirty="0"/>
          </a:p>
        </p:txBody>
      </p:sp>
      <p:sp>
        <p:nvSpPr>
          <p:cNvPr id="8" name="Text 5"/>
          <p:cNvSpPr/>
          <p:nvPr/>
        </p:nvSpPr>
        <p:spPr>
          <a:xfrm>
            <a:off x="4125278" y="2347436"/>
            <a:ext cx="3048119" cy="453628"/>
          </a:xfrm>
          <a:prstGeom prst="rect">
            <a:avLst/>
          </a:prstGeom>
          <a:noFill/>
          <a:ln/>
        </p:spPr>
        <p:txBody>
          <a:bodyPr wrap="none" lIns="0" tIns="0" rIns="0" bIns="0" rtlCol="0" anchor="t"/>
          <a:lstStyle/>
          <a:p>
            <a:pPr algn="ctr" indent="0" marL="0">
              <a:lnSpc>
                <a:spcPts val="3550"/>
              </a:lnSpc>
              <a:buNone/>
            </a:pPr>
            <a:r>
              <a:rPr lang="en-US" sz="3550" b="1" dirty="0">
                <a:solidFill>
                  <a:srgbClr val="403C4E"/>
                </a:solidFill>
                <a:latin typeface="Inter Bold" pitchFamily="34" charset="0"/>
                <a:ea typeface="Inter Bold" pitchFamily="34" charset="-122"/>
                <a:cs typeface="Inter Bold" pitchFamily="34" charset="-120"/>
              </a:rPr>
              <a:t>1.28 Lakh</a:t>
            </a:r>
            <a:endParaRPr lang="en-US" sz="3550" dirty="0"/>
          </a:p>
        </p:txBody>
      </p:sp>
      <p:sp>
        <p:nvSpPr>
          <p:cNvPr id="9" name="Text 6"/>
          <p:cNvSpPr/>
          <p:nvPr/>
        </p:nvSpPr>
        <p:spPr>
          <a:xfrm>
            <a:off x="4231719" y="3084433"/>
            <a:ext cx="2835235" cy="354330"/>
          </a:xfrm>
          <a:prstGeom prst="rect">
            <a:avLst/>
          </a:prstGeom>
          <a:noFill/>
          <a:ln/>
        </p:spPr>
        <p:txBody>
          <a:bodyPr wrap="none" lIns="0" tIns="0" rIns="0" bIns="0" rtlCol="0" anchor="t"/>
          <a:lstStyle/>
          <a:p>
            <a:pPr algn="ctr" indent="0" marL="0">
              <a:lnSpc>
                <a:spcPts val="2750"/>
              </a:lnSpc>
              <a:buNone/>
            </a:pPr>
            <a:r>
              <a:rPr lang="en-US" sz="2200" b="1" dirty="0">
                <a:solidFill>
                  <a:srgbClr val="403C4E"/>
                </a:solidFill>
                <a:latin typeface="Inter Bold" pitchFamily="34" charset="0"/>
                <a:ea typeface="Inter Bold" pitchFamily="34" charset="-122"/>
                <a:cs typeface="Inter Bold" pitchFamily="34" charset="-120"/>
              </a:rPr>
              <a:t>Total Orders</a:t>
            </a:r>
            <a:endParaRPr lang="en-US" sz="2200" dirty="0"/>
          </a:p>
        </p:txBody>
      </p:sp>
      <p:sp>
        <p:nvSpPr>
          <p:cNvPr id="10" name="Text 7"/>
          <p:cNvSpPr/>
          <p:nvPr/>
        </p:nvSpPr>
        <p:spPr>
          <a:xfrm>
            <a:off x="7456884" y="2347436"/>
            <a:ext cx="3048119" cy="453628"/>
          </a:xfrm>
          <a:prstGeom prst="rect">
            <a:avLst/>
          </a:prstGeom>
          <a:noFill/>
          <a:ln/>
        </p:spPr>
        <p:txBody>
          <a:bodyPr wrap="none" lIns="0" tIns="0" rIns="0" bIns="0" rtlCol="0" anchor="t"/>
          <a:lstStyle/>
          <a:p>
            <a:pPr algn="ctr" indent="0" marL="0">
              <a:lnSpc>
                <a:spcPts val="3550"/>
              </a:lnSpc>
              <a:buNone/>
            </a:pPr>
            <a:r>
              <a:rPr lang="en-US" sz="3550" b="1" dirty="0">
                <a:solidFill>
                  <a:srgbClr val="403C4E"/>
                </a:solidFill>
                <a:latin typeface="Inter Bold" pitchFamily="34" charset="0"/>
                <a:ea typeface="Inter Bold" pitchFamily="34" charset="-122"/>
                <a:cs typeface="Inter Bold" pitchFamily="34" charset="-120"/>
              </a:rPr>
              <a:t>₹609.41</a:t>
            </a:r>
            <a:endParaRPr lang="en-US" sz="3550" dirty="0"/>
          </a:p>
        </p:txBody>
      </p:sp>
      <p:sp>
        <p:nvSpPr>
          <p:cNvPr id="11" name="Text 8"/>
          <p:cNvSpPr/>
          <p:nvPr/>
        </p:nvSpPr>
        <p:spPr>
          <a:xfrm>
            <a:off x="7553444" y="3084433"/>
            <a:ext cx="2855000" cy="354330"/>
          </a:xfrm>
          <a:prstGeom prst="rect">
            <a:avLst/>
          </a:prstGeom>
          <a:noFill/>
          <a:ln/>
        </p:spPr>
        <p:txBody>
          <a:bodyPr wrap="none" lIns="0" tIns="0" rIns="0" bIns="0" rtlCol="0" anchor="t"/>
          <a:lstStyle/>
          <a:p>
            <a:pPr algn="ctr" indent="0" marL="0">
              <a:lnSpc>
                <a:spcPts val="2750"/>
              </a:lnSpc>
              <a:buNone/>
            </a:pPr>
            <a:r>
              <a:rPr lang="en-US" sz="2200" b="1" dirty="0">
                <a:solidFill>
                  <a:srgbClr val="403C4E"/>
                </a:solidFill>
                <a:latin typeface="Inter Bold" pitchFamily="34" charset="0"/>
                <a:ea typeface="Inter Bold" pitchFamily="34" charset="-122"/>
                <a:cs typeface="Inter Bold" pitchFamily="34" charset="-120"/>
              </a:rPr>
              <a:t>Average Order Value</a:t>
            </a:r>
            <a:endParaRPr lang="en-US" sz="2200" dirty="0"/>
          </a:p>
        </p:txBody>
      </p:sp>
      <p:sp>
        <p:nvSpPr>
          <p:cNvPr id="12" name="Text 9"/>
          <p:cNvSpPr/>
          <p:nvPr/>
        </p:nvSpPr>
        <p:spPr>
          <a:xfrm>
            <a:off x="10788491" y="2347436"/>
            <a:ext cx="3048119" cy="453628"/>
          </a:xfrm>
          <a:prstGeom prst="rect">
            <a:avLst/>
          </a:prstGeom>
          <a:noFill/>
          <a:ln/>
        </p:spPr>
        <p:txBody>
          <a:bodyPr wrap="none" lIns="0" tIns="0" rIns="0" bIns="0" rtlCol="0" anchor="t"/>
          <a:lstStyle/>
          <a:p>
            <a:pPr algn="ctr" indent="0" marL="0">
              <a:lnSpc>
                <a:spcPts val="3550"/>
              </a:lnSpc>
              <a:buNone/>
            </a:pPr>
            <a:r>
              <a:rPr lang="en-US" sz="3550" b="1" dirty="0">
                <a:solidFill>
                  <a:srgbClr val="403C4E"/>
                </a:solidFill>
                <a:latin typeface="Inter Bold" pitchFamily="34" charset="0"/>
                <a:ea typeface="Inter Bold" pitchFamily="34" charset="-122"/>
                <a:cs typeface="Inter Bold" pitchFamily="34" charset="-120"/>
              </a:rPr>
              <a:t>14.22%</a:t>
            </a:r>
            <a:endParaRPr lang="en-US" sz="3550" dirty="0"/>
          </a:p>
        </p:txBody>
      </p:sp>
      <p:sp>
        <p:nvSpPr>
          <p:cNvPr id="13" name="Text 10"/>
          <p:cNvSpPr/>
          <p:nvPr/>
        </p:nvSpPr>
        <p:spPr>
          <a:xfrm>
            <a:off x="10894933" y="3084433"/>
            <a:ext cx="2835235" cy="354330"/>
          </a:xfrm>
          <a:prstGeom prst="rect">
            <a:avLst/>
          </a:prstGeom>
          <a:noFill/>
          <a:ln/>
        </p:spPr>
        <p:txBody>
          <a:bodyPr wrap="none" lIns="0" tIns="0" rIns="0" bIns="0" rtlCol="0" anchor="t"/>
          <a:lstStyle/>
          <a:p>
            <a:pPr algn="ctr" indent="0" marL="0">
              <a:lnSpc>
                <a:spcPts val="2750"/>
              </a:lnSpc>
              <a:buNone/>
            </a:pPr>
            <a:r>
              <a:rPr lang="en-US" sz="2200" b="1" dirty="0">
                <a:solidFill>
                  <a:srgbClr val="403C4E"/>
                </a:solidFill>
                <a:latin typeface="Inter Bold" pitchFamily="34" charset="0"/>
                <a:ea typeface="Inter Bold" pitchFamily="34" charset="-122"/>
                <a:cs typeface="Inter Bold" pitchFamily="34" charset="-120"/>
              </a:rPr>
              <a:t>Cancellation Rate</a:t>
            </a:r>
            <a:endParaRPr lang="en-US" sz="2200" dirty="0"/>
          </a:p>
        </p:txBody>
      </p:sp>
      <p:pic>
        <p:nvPicPr>
          <p:cNvPr id="14" name="Image 1" descr="preencoded.png">    </p:cNvPr>
          <p:cNvPicPr>
            <a:picLocks noChangeAspect="1"/>
          </p:cNvPicPr>
          <p:nvPr/>
        </p:nvPicPr>
        <p:blipFill>
          <a:blip r:embed="rId3"/>
          <a:stretch>
            <a:fillRect/>
          </a:stretch>
        </p:blipFill>
        <p:spPr>
          <a:xfrm>
            <a:off x="793790" y="3949065"/>
            <a:ext cx="6244709" cy="2678906"/>
          </a:xfrm>
          <a:prstGeom prst="rect">
            <a:avLst/>
          </a:prstGeom>
        </p:spPr>
      </p:pic>
      <p:sp>
        <p:nvSpPr>
          <p:cNvPr id="15" name="Text 11"/>
          <p:cNvSpPr/>
          <p:nvPr/>
        </p:nvSpPr>
        <p:spPr>
          <a:xfrm>
            <a:off x="793790" y="6883122"/>
            <a:ext cx="6244709" cy="362903"/>
          </a:xfrm>
          <a:prstGeom prst="rect">
            <a:avLst/>
          </a:prstGeom>
          <a:noFill/>
          <a:ln/>
        </p:spPr>
        <p:txBody>
          <a:bodyPr wrap="none" lIns="0" tIns="0" rIns="0" bIns="0" rtlCol="0" anchor="t"/>
          <a:lstStyle/>
          <a:p>
            <a:pPr algn="ctr" indent="0" marL="0">
              <a:lnSpc>
                <a:spcPts val="2850"/>
              </a:lnSpc>
              <a:buNone/>
            </a:pPr>
            <a:r>
              <a:rPr lang="en-US" sz="1750" b="1" dirty="0">
                <a:solidFill>
                  <a:srgbClr val="403C4E"/>
                </a:solidFill>
                <a:latin typeface="Inter" pitchFamily="34" charset="0"/>
                <a:ea typeface="Inter" pitchFamily="34" charset="-122"/>
                <a:cs typeface="Inter" pitchFamily="34" charset="-120"/>
              </a:rPr>
              <a:t>Monthly Sales Revenue</a:t>
            </a:r>
            <a:endParaRPr lang="en-US" sz="1750" dirty="0"/>
          </a:p>
        </p:txBody>
      </p:sp>
      <p:sp>
        <p:nvSpPr>
          <p:cNvPr id="16" name="Text 12"/>
          <p:cNvSpPr/>
          <p:nvPr/>
        </p:nvSpPr>
        <p:spPr>
          <a:xfrm>
            <a:off x="7599521" y="3920728"/>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a:t>
            </a:r>
            <a:pPr algn="l" indent="0" marL="0">
              <a:lnSpc>
                <a:spcPts val="2750"/>
              </a:lnSpc>
              <a:buNone/>
            </a:pPr>
            <a:r>
              <a:rPr lang="en-US" sz="2200" b="1" dirty="0">
                <a:solidFill>
                  <a:srgbClr val="403C4E"/>
                </a:solidFill>
                <a:latin typeface="Inter Bold" pitchFamily="34" charset="0"/>
                <a:ea typeface="Inter Bold" pitchFamily="34" charset="-122"/>
                <a:cs typeface="Inter Bold" pitchFamily="34" charset="-120"/>
              </a:rPr>
              <a:t> Insights</a:t>
            </a:r>
            <a:endParaRPr lang="en-US" sz="2200" dirty="0"/>
          </a:p>
        </p:txBody>
      </p:sp>
      <p:sp>
        <p:nvSpPr>
          <p:cNvPr id="17" name="Text 13"/>
          <p:cNvSpPr/>
          <p:nvPr/>
        </p:nvSpPr>
        <p:spPr>
          <a:xfrm>
            <a:off x="7599521" y="4501872"/>
            <a:ext cx="6244709"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403C4E"/>
                </a:solidFill>
                <a:latin typeface="Inter" pitchFamily="34" charset="0"/>
                <a:ea typeface="Inter" pitchFamily="34" charset="-122"/>
                <a:cs typeface="Inter" pitchFamily="34" charset="-120"/>
              </a:rPr>
              <a:t>Revenue and order volume </a:t>
            </a:r>
            <a:pPr algn="l" indent="0" marL="0">
              <a:lnSpc>
                <a:spcPts val="2850"/>
              </a:lnSpc>
              <a:buNone/>
            </a:pPr>
            <a:r>
              <a:rPr lang="en-US" sz="1750" b="1" dirty="0">
                <a:solidFill>
                  <a:srgbClr val="403C4E"/>
                </a:solidFill>
                <a:latin typeface="Inter" pitchFamily="34" charset="0"/>
                <a:ea typeface="Inter" pitchFamily="34" charset="-122"/>
                <a:cs typeface="Inter" pitchFamily="34" charset="-120"/>
              </a:rPr>
              <a:t>peaked in April</a:t>
            </a:r>
            <a:pPr algn="l" indent="0" marL="0">
              <a:lnSpc>
                <a:spcPts val="2850"/>
              </a:lnSpc>
              <a:buNone/>
            </a:pPr>
            <a:r>
              <a:rPr lang="en-US" sz="1750" dirty="0">
                <a:solidFill>
                  <a:srgbClr val="403C4E"/>
                </a:solidFill>
                <a:latin typeface="Inter" pitchFamily="34" charset="0"/>
                <a:ea typeface="Inter" pitchFamily="34" charset="-122"/>
                <a:cs typeface="Inter" pitchFamily="34" charset="-120"/>
              </a:rPr>
              <a:t>, indicating a strong seasonal or campaign-driven performance.</a:t>
            </a:r>
            <a:endParaRPr lang="en-US" sz="1750" dirty="0"/>
          </a:p>
        </p:txBody>
      </p:sp>
      <p:sp>
        <p:nvSpPr>
          <p:cNvPr id="18" name="Text 14"/>
          <p:cNvSpPr/>
          <p:nvPr/>
        </p:nvSpPr>
        <p:spPr>
          <a:xfrm>
            <a:off x="7599521" y="5306973"/>
            <a:ext cx="6244709"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403C4E"/>
                </a:solidFill>
                <a:latin typeface="Inter" pitchFamily="34" charset="0"/>
                <a:ea typeface="Inter" pitchFamily="34" charset="-122"/>
                <a:cs typeface="Inter" pitchFamily="34" charset="-120"/>
              </a:rPr>
              <a:t>Slight decline in May and June suggests </a:t>
            </a:r>
            <a:pPr algn="l" indent="0" marL="0">
              <a:lnSpc>
                <a:spcPts val="2850"/>
              </a:lnSpc>
              <a:buNone/>
            </a:pPr>
            <a:r>
              <a:rPr lang="en-US" sz="1750" b="1" dirty="0">
                <a:solidFill>
                  <a:srgbClr val="403C4E"/>
                </a:solidFill>
                <a:latin typeface="Inter" pitchFamily="34" charset="0"/>
                <a:ea typeface="Inter" pitchFamily="34" charset="-122"/>
                <a:cs typeface="Inter" pitchFamily="34" charset="-120"/>
              </a:rPr>
              <a:t>post-peak normalization</a:t>
            </a:r>
            <a:pPr algn="l" indent="0" marL="0">
              <a:lnSpc>
                <a:spcPts val="2850"/>
              </a:lnSpc>
              <a:buNone/>
            </a:pPr>
            <a:r>
              <a:rPr lang="en-US" sz="1750" dirty="0">
                <a:solidFill>
                  <a:srgbClr val="403C4E"/>
                </a:solidFill>
                <a:latin typeface="Inter" pitchFamily="34" charset="0"/>
                <a:ea typeface="Inter" pitchFamily="34" charset="-122"/>
                <a:cs typeface="Inter" pitchFamily="34" charset="-120"/>
              </a:rPr>
              <a:t> or reduced promotions.</a:t>
            </a:r>
            <a:endParaRPr lang="en-US" sz="1750" dirty="0"/>
          </a:p>
        </p:txBody>
      </p:sp>
      <p:sp>
        <p:nvSpPr>
          <p:cNvPr id="19" name="Text 15"/>
          <p:cNvSpPr/>
          <p:nvPr/>
        </p:nvSpPr>
        <p:spPr>
          <a:xfrm>
            <a:off x="7599521" y="6112073"/>
            <a:ext cx="6244709"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403C4E"/>
                </a:solidFill>
                <a:latin typeface="Inter" pitchFamily="34" charset="0"/>
                <a:ea typeface="Inter" pitchFamily="34" charset="-122"/>
                <a:cs typeface="Inter" pitchFamily="34" charset="-120"/>
              </a:rPr>
              <a:t>A </a:t>
            </a:r>
            <a:pPr algn="l" indent="0" marL="0">
              <a:lnSpc>
                <a:spcPts val="2850"/>
              </a:lnSpc>
              <a:buNone/>
            </a:pPr>
            <a:r>
              <a:rPr lang="en-US" sz="1750" b="1" dirty="0">
                <a:solidFill>
                  <a:srgbClr val="403C4E"/>
                </a:solidFill>
                <a:latin typeface="Inter" pitchFamily="34" charset="0"/>
                <a:ea typeface="Inter" pitchFamily="34" charset="-122"/>
                <a:cs typeface="Inter" pitchFamily="34" charset="-120"/>
              </a:rPr>
              <a:t>14.22% cancellation rate</a:t>
            </a:r>
            <a:pPr algn="l" indent="0" marL="0">
              <a:lnSpc>
                <a:spcPts val="2850"/>
              </a:lnSpc>
              <a:buNone/>
            </a:pPr>
            <a:r>
              <a:rPr lang="en-US" sz="1750" dirty="0">
                <a:solidFill>
                  <a:srgbClr val="403C4E"/>
                </a:solidFill>
                <a:latin typeface="Inter" pitchFamily="34" charset="0"/>
                <a:ea typeface="Inter" pitchFamily="34" charset="-122"/>
                <a:cs typeface="Inter" pitchFamily="34" charset="-120"/>
              </a:rPr>
              <a:t> is relatively high and represents a clear revenue leakage opportunity.</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1840944" y="476012"/>
            <a:ext cx="1580793" cy="355759"/>
          </a:xfrm>
          <a:prstGeom prst="roundRect">
            <a:avLst>
              <a:gd name="adj" fmla="val 2570"/>
            </a:avLst>
          </a:prstGeom>
          <a:noFill/>
          <a:ln w="15240">
            <a:solidFill>
              <a:srgbClr val="FFAD94"/>
            </a:solidFill>
            <a:prstDash val="solid"/>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960007" y="584597"/>
            <a:ext cx="138470" cy="138470"/>
          </a:xfrm>
          <a:prstGeom prst="rect">
            <a:avLst/>
          </a:prstGeom>
        </p:spPr>
      </p:pic>
      <p:sp>
        <p:nvSpPr>
          <p:cNvPr id="4" name="Text 1"/>
          <p:cNvSpPr/>
          <p:nvPr/>
        </p:nvSpPr>
        <p:spPr>
          <a:xfrm>
            <a:off x="2167652" y="543163"/>
            <a:ext cx="1135023" cy="221456"/>
          </a:xfrm>
          <a:prstGeom prst="rect">
            <a:avLst/>
          </a:prstGeom>
          <a:noFill/>
          <a:ln/>
        </p:spPr>
        <p:txBody>
          <a:bodyPr wrap="none" lIns="0" tIns="0" rIns="0" bIns="0" rtlCol="0" anchor="t"/>
          <a:lstStyle/>
          <a:p>
            <a:pPr algn="l" indent="0" marL="0">
              <a:lnSpc>
                <a:spcPts val="1700"/>
              </a:lnSpc>
              <a:buNone/>
            </a:pPr>
            <a:r>
              <a:rPr lang="en-US" sz="1050" dirty="0">
                <a:solidFill>
                  <a:srgbClr val="FFAD94"/>
                </a:solidFill>
                <a:latin typeface="Inter" pitchFamily="34" charset="0"/>
                <a:ea typeface="Inter" pitchFamily="34" charset="-122"/>
                <a:cs typeface="Inter" pitchFamily="34" charset="-120"/>
              </a:rPr>
              <a:t>OBJECTIVE TWO</a:t>
            </a:r>
            <a:endParaRPr lang="en-US" sz="1050" dirty="0"/>
          </a:p>
        </p:txBody>
      </p:sp>
      <p:sp>
        <p:nvSpPr>
          <p:cNvPr id="5" name="Text 2"/>
          <p:cNvSpPr/>
          <p:nvPr/>
        </p:nvSpPr>
        <p:spPr>
          <a:xfrm>
            <a:off x="1840944" y="900946"/>
            <a:ext cx="6932295" cy="432792"/>
          </a:xfrm>
          <a:prstGeom prst="rect">
            <a:avLst/>
          </a:prstGeom>
          <a:noFill/>
          <a:ln/>
        </p:spPr>
        <p:txBody>
          <a:bodyPr wrap="none" lIns="0" tIns="0" rIns="0" bIns="0" rtlCol="0" anchor="t"/>
          <a:lstStyle/>
          <a:p>
            <a:pPr algn="l" indent="0" marL="0">
              <a:lnSpc>
                <a:spcPts val="3400"/>
              </a:lnSpc>
              <a:buNone/>
            </a:pPr>
            <a:r>
              <a:rPr lang="en-US" sz="2700" b="1" dirty="0">
                <a:solidFill>
                  <a:srgbClr val="403C4E"/>
                </a:solidFill>
                <a:latin typeface="Inter Bold" pitchFamily="34" charset="0"/>
                <a:ea typeface="Inter Bold" pitchFamily="34" charset="-122"/>
                <a:cs typeface="Inter Bold" pitchFamily="34" charset="-120"/>
              </a:rPr>
              <a:t>Product Analysis: Category Performance</a:t>
            </a:r>
            <a:endParaRPr lang="en-US" sz="2700" dirty="0"/>
          </a:p>
        </p:txBody>
      </p:sp>
      <p:sp>
        <p:nvSpPr>
          <p:cNvPr id="6" name="Text 3"/>
          <p:cNvSpPr/>
          <p:nvPr/>
        </p:nvSpPr>
        <p:spPr>
          <a:xfrm>
            <a:off x="1840944" y="1766292"/>
            <a:ext cx="2163723" cy="278011"/>
          </a:xfrm>
          <a:prstGeom prst="rect">
            <a:avLst/>
          </a:prstGeom>
          <a:noFill/>
          <a:ln/>
        </p:spPr>
        <p:txBody>
          <a:bodyPr wrap="none" lIns="0" tIns="0" rIns="0" bIns="0" rtlCol="0" anchor="t"/>
          <a:lstStyle/>
          <a:p>
            <a:pPr algn="l" indent="0" marL="0">
              <a:lnSpc>
                <a:spcPts val="2100"/>
              </a:lnSpc>
              <a:buNone/>
            </a:pPr>
            <a:r>
              <a:rPr lang="en-US" sz="1700" b="1" dirty="0">
                <a:solidFill>
                  <a:srgbClr val="000000"/>
                </a:solidFill>
                <a:latin typeface="Inter Bold" pitchFamily="34" charset="0"/>
                <a:ea typeface="Inter Bold" pitchFamily="34" charset="-122"/>
                <a:cs typeface="Inter Bold" pitchFamily="34" charset="-120"/>
              </a:rPr>
              <a:t>🔹</a:t>
            </a:r>
            <a:pPr algn="l" indent="0" marL="0">
              <a:lnSpc>
                <a:spcPts val="2100"/>
              </a:lnSpc>
              <a:buNone/>
            </a:pPr>
            <a:r>
              <a:rPr lang="en-US" sz="1700" b="1" dirty="0">
                <a:solidFill>
                  <a:srgbClr val="403C4E"/>
                </a:solidFill>
                <a:latin typeface="Inter Bold" pitchFamily="34" charset="0"/>
                <a:ea typeface="Inter Bold" pitchFamily="34" charset="-122"/>
                <a:cs typeface="Inter Bold" pitchFamily="34" charset="-120"/>
              </a:rPr>
              <a:t> Best Sellers</a:t>
            </a:r>
            <a:endParaRPr lang="en-US" sz="1700" dirty="0"/>
          </a:p>
        </p:txBody>
      </p:sp>
      <p:sp>
        <p:nvSpPr>
          <p:cNvPr id="7" name="Text 4"/>
          <p:cNvSpPr/>
          <p:nvPr/>
        </p:nvSpPr>
        <p:spPr>
          <a:xfrm>
            <a:off x="1840944" y="2217301"/>
            <a:ext cx="5263158" cy="276939"/>
          </a:xfrm>
          <a:prstGeom prst="rect">
            <a:avLst/>
          </a:prstGeom>
          <a:noFill/>
          <a:ln/>
        </p:spPr>
        <p:txBody>
          <a:bodyPr wrap="none" lIns="0" tIns="0" rIns="0" bIns="0" rtlCol="0" anchor="t"/>
          <a:lstStyle/>
          <a:p>
            <a:pPr algn="l" marL="342900" indent="-342900">
              <a:lnSpc>
                <a:spcPts val="2150"/>
              </a:lnSpc>
              <a:buSzPct val="100000"/>
              <a:buChar char="•"/>
            </a:pPr>
            <a:r>
              <a:rPr lang="en-US" sz="1350" b="1" dirty="0">
                <a:solidFill>
                  <a:srgbClr val="403C4E"/>
                </a:solidFill>
                <a:latin typeface="Inter" pitchFamily="34" charset="0"/>
                <a:ea typeface="Inter" pitchFamily="34" charset="-122"/>
                <a:cs typeface="Inter" pitchFamily="34" charset="-120"/>
              </a:rPr>
              <a:t>Best-Selling Product:</a:t>
            </a:r>
            <a:pPr algn="l" indent="0" marL="0">
              <a:lnSpc>
                <a:spcPts val="2150"/>
              </a:lnSpc>
              <a:buNone/>
            </a:pPr>
            <a:r>
              <a:rPr lang="en-US" sz="1350" dirty="0">
                <a:solidFill>
                  <a:srgbClr val="403C4E"/>
                </a:solidFill>
                <a:latin typeface="Inter" pitchFamily="34" charset="0"/>
                <a:ea typeface="Inter" pitchFamily="34" charset="-122"/>
                <a:cs typeface="Inter" pitchFamily="34" charset="-120"/>
              </a:rPr>
              <a:t> T-shirt (45,228 units)</a:t>
            </a:r>
            <a:endParaRPr lang="en-US" sz="1350" dirty="0"/>
          </a:p>
        </p:txBody>
      </p:sp>
      <p:sp>
        <p:nvSpPr>
          <p:cNvPr id="8" name="Text 5"/>
          <p:cNvSpPr/>
          <p:nvPr/>
        </p:nvSpPr>
        <p:spPr>
          <a:xfrm>
            <a:off x="1840944" y="2554724"/>
            <a:ext cx="5263158" cy="276939"/>
          </a:xfrm>
          <a:prstGeom prst="rect">
            <a:avLst/>
          </a:prstGeom>
          <a:noFill/>
          <a:ln/>
        </p:spPr>
        <p:txBody>
          <a:bodyPr wrap="none" lIns="0" tIns="0" rIns="0" bIns="0" rtlCol="0" anchor="t"/>
          <a:lstStyle/>
          <a:p>
            <a:pPr algn="l" marL="342900" indent="-342900">
              <a:lnSpc>
                <a:spcPts val="2150"/>
              </a:lnSpc>
              <a:buSzPct val="100000"/>
              <a:buChar char="•"/>
            </a:pPr>
            <a:r>
              <a:rPr lang="en-US" sz="1350" b="1" dirty="0">
                <a:solidFill>
                  <a:srgbClr val="403C4E"/>
                </a:solidFill>
                <a:latin typeface="Inter" pitchFamily="34" charset="0"/>
                <a:ea typeface="Inter" pitchFamily="34" charset="-122"/>
                <a:cs typeface="Inter" pitchFamily="34" charset="-120"/>
              </a:rPr>
              <a:t>Highest Revenue Product:</a:t>
            </a:r>
            <a:pPr algn="l" indent="0" marL="0">
              <a:lnSpc>
                <a:spcPts val="2150"/>
              </a:lnSpc>
              <a:buNone/>
            </a:pPr>
            <a:r>
              <a:rPr lang="en-US" sz="1350" dirty="0">
                <a:solidFill>
                  <a:srgbClr val="403C4E"/>
                </a:solidFill>
                <a:latin typeface="Inter" pitchFamily="34" charset="0"/>
                <a:ea typeface="Inter" pitchFamily="34" charset="-122"/>
                <a:cs typeface="Inter" pitchFamily="34" charset="-120"/>
              </a:rPr>
              <a:t> T-shirt – ₹39.15M</a:t>
            </a:r>
            <a:endParaRPr lang="en-US" sz="1350" dirty="0"/>
          </a:p>
        </p:txBody>
      </p:sp>
      <p:sp>
        <p:nvSpPr>
          <p:cNvPr id="9" name="Text 6"/>
          <p:cNvSpPr/>
          <p:nvPr/>
        </p:nvSpPr>
        <p:spPr>
          <a:xfrm>
            <a:off x="1840944" y="3004661"/>
            <a:ext cx="2683788" cy="278011"/>
          </a:xfrm>
          <a:prstGeom prst="rect">
            <a:avLst/>
          </a:prstGeom>
          <a:noFill/>
          <a:ln/>
        </p:spPr>
        <p:txBody>
          <a:bodyPr wrap="none" lIns="0" tIns="0" rIns="0" bIns="0" rtlCol="0" anchor="t"/>
          <a:lstStyle/>
          <a:p>
            <a:pPr algn="l" indent="0" marL="0">
              <a:lnSpc>
                <a:spcPts val="2100"/>
              </a:lnSpc>
              <a:buNone/>
            </a:pPr>
            <a:r>
              <a:rPr lang="en-US" sz="1700" b="1" dirty="0">
                <a:solidFill>
                  <a:srgbClr val="000000"/>
                </a:solidFill>
                <a:latin typeface="Inter Bold" pitchFamily="34" charset="0"/>
                <a:ea typeface="Inter Bold" pitchFamily="34" charset="-122"/>
                <a:cs typeface="Inter Bold" pitchFamily="34" charset="-120"/>
              </a:rPr>
              <a:t>🔹</a:t>
            </a:r>
            <a:pPr algn="l" indent="0" marL="0">
              <a:lnSpc>
                <a:spcPts val="2100"/>
              </a:lnSpc>
              <a:buNone/>
            </a:pPr>
            <a:r>
              <a:rPr lang="en-US" sz="1700" b="1" dirty="0">
                <a:solidFill>
                  <a:srgbClr val="403C4E"/>
                </a:solidFill>
                <a:latin typeface="Inter Bold" pitchFamily="34" charset="0"/>
                <a:ea typeface="Inter Bold" pitchFamily="34" charset="-122"/>
                <a:cs typeface="Inter Bold" pitchFamily="34" charset="-120"/>
              </a:rPr>
              <a:t> Category Contribution</a:t>
            </a:r>
            <a:endParaRPr lang="en-US" sz="1700" dirty="0"/>
          </a:p>
        </p:txBody>
      </p:sp>
      <p:sp>
        <p:nvSpPr>
          <p:cNvPr id="10" name="Text 7"/>
          <p:cNvSpPr/>
          <p:nvPr/>
        </p:nvSpPr>
        <p:spPr>
          <a:xfrm>
            <a:off x="1840944" y="3455670"/>
            <a:ext cx="5263158" cy="553879"/>
          </a:xfrm>
          <a:prstGeom prst="rect">
            <a:avLst/>
          </a:prstGeom>
          <a:noFill/>
          <a:ln/>
        </p:spPr>
        <p:txBody>
          <a:bodyPr wrap="square" lIns="0" tIns="0" rIns="0" bIns="0" rtlCol="0" anchor="t"/>
          <a:lstStyle/>
          <a:p>
            <a:pPr algn="l" marL="342900" indent="-342900">
              <a:lnSpc>
                <a:spcPts val="2150"/>
              </a:lnSpc>
              <a:buSzPct val="100000"/>
              <a:buChar char="•"/>
            </a:pPr>
            <a:r>
              <a:rPr lang="en-US" sz="1350" dirty="0">
                <a:solidFill>
                  <a:srgbClr val="403C4E"/>
                </a:solidFill>
                <a:latin typeface="Inter" pitchFamily="34" charset="0"/>
                <a:ea typeface="Inter" pitchFamily="34" charset="-122"/>
                <a:cs typeface="Inter" pitchFamily="34" charset="-120"/>
              </a:rPr>
              <a:t>Top 3 categories (T-shirt, Shirt, Blazer) generate </a:t>
            </a:r>
            <a:pPr algn="l" indent="0" marL="0">
              <a:lnSpc>
                <a:spcPts val="2150"/>
              </a:lnSpc>
              <a:buNone/>
            </a:pPr>
            <a:r>
              <a:rPr lang="en-US" sz="1350" b="1" dirty="0">
                <a:solidFill>
                  <a:srgbClr val="403C4E"/>
                </a:solidFill>
                <a:latin typeface="Inter" pitchFamily="34" charset="0"/>
                <a:ea typeface="Inter" pitchFamily="34" charset="-122"/>
                <a:cs typeface="Inter" pitchFamily="34" charset="-120"/>
              </a:rPr>
              <a:t>~90% of revenue</a:t>
            </a:r>
            <a:endParaRPr lang="en-US" sz="1350" dirty="0"/>
          </a:p>
        </p:txBody>
      </p:sp>
      <p:sp>
        <p:nvSpPr>
          <p:cNvPr id="11" name="Text 8"/>
          <p:cNvSpPr/>
          <p:nvPr/>
        </p:nvSpPr>
        <p:spPr>
          <a:xfrm>
            <a:off x="1840944" y="4070033"/>
            <a:ext cx="5263158" cy="553879"/>
          </a:xfrm>
          <a:prstGeom prst="rect">
            <a:avLst/>
          </a:prstGeom>
          <a:noFill/>
          <a:ln/>
        </p:spPr>
        <p:txBody>
          <a:bodyPr wrap="square" lIns="0" tIns="0" rIns="0" bIns="0" rtlCol="0" anchor="t"/>
          <a:lstStyle/>
          <a:p>
            <a:pPr algn="l" marL="342900" indent="-342900">
              <a:lnSpc>
                <a:spcPts val="2150"/>
              </a:lnSpc>
              <a:buSzPct val="100000"/>
              <a:buChar char="•"/>
            </a:pPr>
            <a:r>
              <a:rPr lang="en-US" sz="1350" dirty="0">
                <a:solidFill>
                  <a:srgbClr val="403C4E"/>
                </a:solidFill>
                <a:latin typeface="Inter" pitchFamily="34" charset="0"/>
                <a:ea typeface="Inter" pitchFamily="34" charset="-122"/>
                <a:cs typeface="Inter" pitchFamily="34" charset="-120"/>
              </a:rPr>
              <a:t>Long-tail categories (Wallet, Socks, Shoes, Watch) have minimal impact</a:t>
            </a:r>
            <a:endParaRPr lang="en-US" sz="1350" dirty="0"/>
          </a:p>
        </p:txBody>
      </p:sp>
      <p:sp>
        <p:nvSpPr>
          <p:cNvPr id="12" name="Text 9"/>
          <p:cNvSpPr/>
          <p:nvPr/>
        </p:nvSpPr>
        <p:spPr>
          <a:xfrm>
            <a:off x="1840944" y="4796909"/>
            <a:ext cx="2163723" cy="278011"/>
          </a:xfrm>
          <a:prstGeom prst="rect">
            <a:avLst/>
          </a:prstGeom>
          <a:noFill/>
          <a:ln/>
        </p:spPr>
        <p:txBody>
          <a:bodyPr wrap="none" lIns="0" tIns="0" rIns="0" bIns="0" rtlCol="0" anchor="t"/>
          <a:lstStyle/>
          <a:p>
            <a:pPr algn="l" indent="0" marL="0">
              <a:lnSpc>
                <a:spcPts val="2100"/>
              </a:lnSpc>
              <a:buNone/>
            </a:pPr>
            <a:r>
              <a:rPr lang="en-US" sz="1700" b="1" dirty="0">
                <a:solidFill>
                  <a:srgbClr val="000000"/>
                </a:solidFill>
                <a:latin typeface="Inter Bold" pitchFamily="34" charset="0"/>
                <a:ea typeface="Inter Bold" pitchFamily="34" charset="-122"/>
                <a:cs typeface="Inter Bold" pitchFamily="34" charset="-120"/>
              </a:rPr>
              <a:t>🔹</a:t>
            </a:r>
            <a:pPr algn="l" indent="0" marL="0">
              <a:lnSpc>
                <a:spcPts val="2100"/>
              </a:lnSpc>
              <a:buNone/>
            </a:pPr>
            <a:r>
              <a:rPr lang="en-US" sz="1700" b="1" dirty="0">
                <a:solidFill>
                  <a:srgbClr val="403C4E"/>
                </a:solidFill>
                <a:latin typeface="Inter Bold" pitchFamily="34" charset="0"/>
                <a:ea typeface="Inter Bold" pitchFamily="34" charset="-122"/>
                <a:cs typeface="Inter Bold" pitchFamily="34" charset="-120"/>
              </a:rPr>
              <a:t> Size Insights</a:t>
            </a:r>
            <a:endParaRPr lang="en-US" sz="1700" dirty="0"/>
          </a:p>
        </p:txBody>
      </p:sp>
      <p:sp>
        <p:nvSpPr>
          <p:cNvPr id="13" name="Text 10"/>
          <p:cNvSpPr/>
          <p:nvPr/>
        </p:nvSpPr>
        <p:spPr>
          <a:xfrm>
            <a:off x="1840944" y="5247918"/>
            <a:ext cx="5263158" cy="276939"/>
          </a:xfrm>
          <a:prstGeom prst="rect">
            <a:avLst/>
          </a:prstGeom>
          <a:noFill/>
          <a:ln/>
        </p:spPr>
        <p:txBody>
          <a:bodyPr wrap="none" lIns="0" tIns="0" rIns="0" bIns="0" rtlCol="0" anchor="t"/>
          <a:lstStyle/>
          <a:p>
            <a:pPr algn="l" marL="342900" indent="-342900">
              <a:lnSpc>
                <a:spcPts val="2150"/>
              </a:lnSpc>
              <a:buSzPct val="100000"/>
              <a:buChar char="•"/>
            </a:pPr>
            <a:r>
              <a:rPr lang="en-US" sz="1350" b="1" dirty="0">
                <a:solidFill>
                  <a:srgbClr val="403C4E"/>
                </a:solidFill>
                <a:latin typeface="Inter" pitchFamily="34" charset="0"/>
                <a:ea typeface="Inter" pitchFamily="34" charset="-122"/>
                <a:cs typeface="Inter" pitchFamily="34" charset="-120"/>
              </a:rPr>
              <a:t>Most Popular Size:</a:t>
            </a:r>
            <a:pPr algn="l" indent="0" marL="0">
              <a:lnSpc>
                <a:spcPts val="2150"/>
              </a:lnSpc>
              <a:buNone/>
            </a:pPr>
            <a:r>
              <a:rPr lang="en-US" sz="1350" dirty="0">
                <a:solidFill>
                  <a:srgbClr val="403C4E"/>
                </a:solidFill>
                <a:latin typeface="Inter" pitchFamily="34" charset="0"/>
                <a:ea typeface="Inter" pitchFamily="34" charset="-122"/>
                <a:cs typeface="Inter" pitchFamily="34" charset="-120"/>
              </a:rPr>
              <a:t> M</a:t>
            </a:r>
            <a:endParaRPr lang="en-US" sz="1350" dirty="0"/>
          </a:p>
        </p:txBody>
      </p:sp>
      <p:sp>
        <p:nvSpPr>
          <p:cNvPr id="14" name="Text 11"/>
          <p:cNvSpPr/>
          <p:nvPr/>
        </p:nvSpPr>
        <p:spPr>
          <a:xfrm>
            <a:off x="1840944" y="5585341"/>
            <a:ext cx="5263158" cy="276939"/>
          </a:xfrm>
          <a:prstGeom prst="rect">
            <a:avLst/>
          </a:prstGeom>
          <a:noFill/>
          <a:ln/>
        </p:spPr>
        <p:txBody>
          <a:bodyPr wrap="none" lIns="0" tIns="0" rIns="0" bIns="0" rtlCol="0" anchor="t"/>
          <a:lstStyle/>
          <a:p>
            <a:pPr algn="l" marL="342900" indent="-342900">
              <a:lnSpc>
                <a:spcPts val="2150"/>
              </a:lnSpc>
              <a:buSzPct val="100000"/>
              <a:buChar char="•"/>
            </a:pPr>
            <a:r>
              <a:rPr lang="en-US" sz="1350" dirty="0">
                <a:solidFill>
                  <a:srgbClr val="403C4E"/>
                </a:solidFill>
                <a:latin typeface="Inter" pitchFamily="34" charset="0"/>
                <a:ea typeface="Inter" pitchFamily="34" charset="-122"/>
                <a:cs typeface="Inter" pitchFamily="34" charset="-120"/>
              </a:rPr>
              <a:t>Sizes M, L, XL dominate across products</a:t>
            </a:r>
            <a:endParaRPr lang="en-US" sz="1350" dirty="0"/>
          </a:p>
        </p:txBody>
      </p:sp>
      <p:pic>
        <p:nvPicPr>
          <p:cNvPr id="15" name="Image 1" descr="preencoded.png">    </p:cNvPr>
          <p:cNvPicPr>
            <a:picLocks noChangeAspect="1"/>
          </p:cNvPicPr>
          <p:nvPr/>
        </p:nvPicPr>
        <p:blipFill>
          <a:blip r:embed="rId3"/>
          <a:stretch>
            <a:fillRect/>
          </a:stretch>
        </p:blipFill>
        <p:spPr>
          <a:xfrm>
            <a:off x="7533918" y="1787962"/>
            <a:ext cx="5263158" cy="2947273"/>
          </a:xfrm>
          <a:prstGeom prst="rect">
            <a:avLst/>
          </a:prstGeom>
        </p:spPr>
      </p:pic>
      <p:sp>
        <p:nvSpPr>
          <p:cNvPr id="16" name="Text 12"/>
          <p:cNvSpPr/>
          <p:nvPr/>
        </p:nvSpPr>
        <p:spPr>
          <a:xfrm>
            <a:off x="9083635" y="4929902"/>
            <a:ext cx="2163723" cy="270391"/>
          </a:xfrm>
          <a:prstGeom prst="rect">
            <a:avLst/>
          </a:prstGeom>
          <a:noFill/>
          <a:ln/>
        </p:spPr>
        <p:txBody>
          <a:bodyPr wrap="none" lIns="0" tIns="0" rIns="0" bIns="0" rtlCol="0" anchor="t"/>
          <a:lstStyle/>
          <a:p>
            <a:pPr algn="ctr" indent="0" marL="0">
              <a:lnSpc>
                <a:spcPts val="2100"/>
              </a:lnSpc>
              <a:buNone/>
            </a:pPr>
            <a:r>
              <a:rPr lang="en-US" sz="1700" b="1" dirty="0">
                <a:solidFill>
                  <a:srgbClr val="403C4E"/>
                </a:solidFill>
                <a:latin typeface="Inter Bold" pitchFamily="34" charset="0"/>
                <a:ea typeface="Inter Bold" pitchFamily="34" charset="-122"/>
                <a:cs typeface="Inter Bold" pitchFamily="34" charset="-120"/>
              </a:rPr>
              <a:t>Sales By Product</a:t>
            </a:r>
            <a:endParaRPr lang="en-US" sz="1700" dirty="0"/>
          </a:p>
        </p:txBody>
      </p:sp>
      <p:sp>
        <p:nvSpPr>
          <p:cNvPr id="17" name="Text 13"/>
          <p:cNvSpPr/>
          <p:nvPr/>
        </p:nvSpPr>
        <p:spPr>
          <a:xfrm>
            <a:off x="7533918" y="5373291"/>
            <a:ext cx="5263158" cy="276939"/>
          </a:xfrm>
          <a:prstGeom prst="rect">
            <a:avLst/>
          </a:prstGeom>
          <a:noFill/>
          <a:ln/>
        </p:spPr>
        <p:txBody>
          <a:bodyPr wrap="none" lIns="0" tIns="0" rIns="0" bIns="0" rtlCol="0" anchor="t"/>
          <a:lstStyle/>
          <a:p>
            <a:pPr algn="ctr" indent="0" marL="0">
              <a:lnSpc>
                <a:spcPts val="2150"/>
              </a:lnSpc>
              <a:buNone/>
            </a:pPr>
            <a:endParaRPr lang="en-US" sz="1350" dirty="0"/>
          </a:p>
        </p:txBody>
      </p:sp>
      <p:sp>
        <p:nvSpPr>
          <p:cNvPr id="18" name="Text 14"/>
          <p:cNvSpPr/>
          <p:nvPr/>
        </p:nvSpPr>
        <p:spPr>
          <a:xfrm>
            <a:off x="1840944" y="6203871"/>
            <a:ext cx="3505200" cy="683657"/>
          </a:xfrm>
          <a:prstGeom prst="rect">
            <a:avLst/>
          </a:prstGeom>
          <a:noFill/>
          <a:ln/>
        </p:spPr>
        <p:txBody>
          <a:bodyPr wrap="none" lIns="0" tIns="0" rIns="0" bIns="0" rtlCol="0" anchor="t"/>
          <a:lstStyle/>
          <a:p>
            <a:pPr algn="ctr" indent="0" marL="0">
              <a:lnSpc>
                <a:spcPts val="5350"/>
              </a:lnSpc>
              <a:buNone/>
            </a:pPr>
            <a:r>
              <a:rPr lang="en-US" sz="5350" b="1" dirty="0">
                <a:solidFill>
                  <a:srgbClr val="403C4E"/>
                </a:solidFill>
                <a:latin typeface="Inter Bold" pitchFamily="34" charset="0"/>
                <a:ea typeface="Inter Bold" pitchFamily="34" charset="-122"/>
                <a:cs typeface="Inter Bold" pitchFamily="34" charset="-120"/>
              </a:rPr>
              <a:t>45,228</a:t>
            </a:r>
            <a:endParaRPr lang="en-US" sz="5350" dirty="0"/>
          </a:p>
        </p:txBody>
      </p:sp>
      <p:sp>
        <p:nvSpPr>
          <p:cNvPr id="19" name="Text 15"/>
          <p:cNvSpPr/>
          <p:nvPr/>
        </p:nvSpPr>
        <p:spPr>
          <a:xfrm>
            <a:off x="2511623" y="7103745"/>
            <a:ext cx="2163723" cy="270391"/>
          </a:xfrm>
          <a:prstGeom prst="rect">
            <a:avLst/>
          </a:prstGeom>
          <a:noFill/>
          <a:ln/>
        </p:spPr>
        <p:txBody>
          <a:bodyPr wrap="none" lIns="0" tIns="0" rIns="0" bIns="0" rtlCol="0" anchor="t"/>
          <a:lstStyle/>
          <a:p>
            <a:pPr algn="ctr" indent="0" marL="0">
              <a:lnSpc>
                <a:spcPts val="2100"/>
              </a:lnSpc>
              <a:buNone/>
            </a:pPr>
            <a:r>
              <a:rPr lang="en-US" sz="1700" b="1" dirty="0">
                <a:solidFill>
                  <a:srgbClr val="403C4E"/>
                </a:solidFill>
                <a:latin typeface="Inter Bold" pitchFamily="34" charset="0"/>
                <a:ea typeface="Inter Bold" pitchFamily="34" charset="-122"/>
                <a:cs typeface="Inter Bold" pitchFamily="34" charset="-120"/>
              </a:rPr>
              <a:t>T-shirt</a:t>
            </a:r>
            <a:endParaRPr lang="en-US" sz="1700" dirty="0"/>
          </a:p>
        </p:txBody>
      </p:sp>
      <p:sp>
        <p:nvSpPr>
          <p:cNvPr id="20" name="Text 16"/>
          <p:cNvSpPr/>
          <p:nvPr/>
        </p:nvSpPr>
        <p:spPr>
          <a:xfrm>
            <a:off x="1840944" y="7477958"/>
            <a:ext cx="3505200" cy="276939"/>
          </a:xfrm>
          <a:prstGeom prst="rect">
            <a:avLst/>
          </a:prstGeom>
          <a:noFill/>
          <a:ln/>
        </p:spPr>
        <p:txBody>
          <a:bodyPr wrap="none" lIns="0" tIns="0" rIns="0" bIns="0" rtlCol="0" anchor="t"/>
          <a:lstStyle/>
          <a:p>
            <a:pPr algn="ctr" indent="0" marL="0">
              <a:lnSpc>
                <a:spcPts val="2150"/>
              </a:lnSpc>
              <a:buNone/>
            </a:pPr>
            <a:r>
              <a:rPr lang="en-US" sz="1350" dirty="0">
                <a:solidFill>
                  <a:srgbClr val="403C4E"/>
                </a:solidFill>
                <a:latin typeface="Inter" pitchFamily="34" charset="0"/>
                <a:ea typeface="Inter" pitchFamily="34" charset="-122"/>
                <a:cs typeface="Inter" pitchFamily="34" charset="-120"/>
              </a:rPr>
              <a:t>Best-Selling Product Quantity</a:t>
            </a:r>
            <a:endParaRPr lang="en-US" sz="1350" dirty="0"/>
          </a:p>
        </p:txBody>
      </p:sp>
      <p:sp>
        <p:nvSpPr>
          <p:cNvPr id="21" name="Text 17"/>
          <p:cNvSpPr/>
          <p:nvPr/>
        </p:nvSpPr>
        <p:spPr>
          <a:xfrm>
            <a:off x="5562481" y="6203871"/>
            <a:ext cx="3505319" cy="683657"/>
          </a:xfrm>
          <a:prstGeom prst="rect">
            <a:avLst/>
          </a:prstGeom>
          <a:noFill/>
          <a:ln/>
        </p:spPr>
        <p:txBody>
          <a:bodyPr wrap="none" lIns="0" tIns="0" rIns="0" bIns="0" rtlCol="0" anchor="t"/>
          <a:lstStyle/>
          <a:p>
            <a:pPr algn="ctr" indent="0" marL="0">
              <a:lnSpc>
                <a:spcPts val="5350"/>
              </a:lnSpc>
              <a:buNone/>
            </a:pPr>
            <a:r>
              <a:rPr lang="en-US" sz="5350" b="1" dirty="0">
                <a:solidFill>
                  <a:srgbClr val="403C4E"/>
                </a:solidFill>
                <a:latin typeface="Inter Bold" pitchFamily="34" charset="0"/>
                <a:ea typeface="Inter Bold" pitchFamily="34" charset="-122"/>
                <a:cs typeface="Inter Bold" pitchFamily="34" charset="-120"/>
              </a:rPr>
              <a:t>20,116</a:t>
            </a:r>
            <a:endParaRPr lang="en-US" sz="5350" dirty="0"/>
          </a:p>
        </p:txBody>
      </p:sp>
      <p:sp>
        <p:nvSpPr>
          <p:cNvPr id="22" name="Text 18"/>
          <p:cNvSpPr/>
          <p:nvPr/>
        </p:nvSpPr>
        <p:spPr>
          <a:xfrm>
            <a:off x="6233279" y="7103745"/>
            <a:ext cx="2163723" cy="270391"/>
          </a:xfrm>
          <a:prstGeom prst="rect">
            <a:avLst/>
          </a:prstGeom>
          <a:noFill/>
          <a:ln/>
        </p:spPr>
        <p:txBody>
          <a:bodyPr wrap="none" lIns="0" tIns="0" rIns="0" bIns="0" rtlCol="0" anchor="t"/>
          <a:lstStyle/>
          <a:p>
            <a:pPr algn="ctr" indent="0" marL="0">
              <a:lnSpc>
                <a:spcPts val="2100"/>
              </a:lnSpc>
              <a:buNone/>
            </a:pPr>
            <a:r>
              <a:rPr lang="en-US" sz="1700" b="1" dirty="0">
                <a:solidFill>
                  <a:srgbClr val="403C4E"/>
                </a:solidFill>
                <a:latin typeface="Inter Bold" pitchFamily="34" charset="0"/>
                <a:ea typeface="Inter Bold" pitchFamily="34" charset="-122"/>
                <a:cs typeface="Inter Bold" pitchFamily="34" charset="-120"/>
              </a:rPr>
              <a:t>M - Size</a:t>
            </a:r>
            <a:endParaRPr lang="en-US" sz="1700" dirty="0"/>
          </a:p>
        </p:txBody>
      </p:sp>
      <p:sp>
        <p:nvSpPr>
          <p:cNvPr id="23" name="Text 19"/>
          <p:cNvSpPr/>
          <p:nvPr/>
        </p:nvSpPr>
        <p:spPr>
          <a:xfrm>
            <a:off x="5562481" y="7477958"/>
            <a:ext cx="3505319" cy="276939"/>
          </a:xfrm>
          <a:prstGeom prst="rect">
            <a:avLst/>
          </a:prstGeom>
          <a:noFill/>
          <a:ln/>
        </p:spPr>
        <p:txBody>
          <a:bodyPr wrap="none" lIns="0" tIns="0" rIns="0" bIns="0" rtlCol="0" anchor="t"/>
          <a:lstStyle/>
          <a:p>
            <a:pPr algn="ctr" indent="0" marL="0">
              <a:lnSpc>
                <a:spcPts val="2150"/>
              </a:lnSpc>
              <a:buNone/>
            </a:pPr>
            <a:r>
              <a:rPr lang="en-US" sz="1350" dirty="0">
                <a:solidFill>
                  <a:srgbClr val="403C4E"/>
                </a:solidFill>
                <a:latin typeface="Inter" pitchFamily="34" charset="0"/>
                <a:ea typeface="Inter" pitchFamily="34" charset="-122"/>
                <a:cs typeface="Inter" pitchFamily="34" charset="-120"/>
              </a:rPr>
              <a:t>Most Popular Size</a:t>
            </a:r>
            <a:endParaRPr lang="en-US" sz="1350" dirty="0"/>
          </a:p>
        </p:txBody>
      </p:sp>
      <p:sp>
        <p:nvSpPr>
          <p:cNvPr id="24" name="Text 20"/>
          <p:cNvSpPr/>
          <p:nvPr/>
        </p:nvSpPr>
        <p:spPr>
          <a:xfrm>
            <a:off x="9284137" y="6203871"/>
            <a:ext cx="3505200" cy="683657"/>
          </a:xfrm>
          <a:prstGeom prst="rect">
            <a:avLst/>
          </a:prstGeom>
          <a:noFill/>
          <a:ln/>
        </p:spPr>
        <p:txBody>
          <a:bodyPr wrap="none" lIns="0" tIns="0" rIns="0" bIns="0" rtlCol="0" anchor="t"/>
          <a:lstStyle/>
          <a:p>
            <a:pPr algn="ctr" indent="0" marL="0">
              <a:lnSpc>
                <a:spcPts val="5350"/>
              </a:lnSpc>
              <a:buNone/>
            </a:pPr>
            <a:r>
              <a:rPr lang="en-US" sz="5350" b="1" dirty="0">
                <a:solidFill>
                  <a:srgbClr val="403C4E"/>
                </a:solidFill>
                <a:latin typeface="Inter Bold" pitchFamily="34" charset="0"/>
                <a:ea typeface="Inter Bold" pitchFamily="34" charset="-122"/>
                <a:cs typeface="Inter Bold" pitchFamily="34" charset="-120"/>
              </a:rPr>
              <a:t>₹3.91 Cr</a:t>
            </a:r>
            <a:endParaRPr lang="en-US" sz="5350" dirty="0"/>
          </a:p>
        </p:txBody>
      </p:sp>
      <p:sp>
        <p:nvSpPr>
          <p:cNvPr id="25" name="Text 21"/>
          <p:cNvSpPr/>
          <p:nvPr/>
        </p:nvSpPr>
        <p:spPr>
          <a:xfrm>
            <a:off x="9954816" y="7103745"/>
            <a:ext cx="2163723" cy="270391"/>
          </a:xfrm>
          <a:prstGeom prst="rect">
            <a:avLst/>
          </a:prstGeom>
          <a:noFill/>
          <a:ln/>
        </p:spPr>
        <p:txBody>
          <a:bodyPr wrap="none" lIns="0" tIns="0" rIns="0" bIns="0" rtlCol="0" anchor="t"/>
          <a:lstStyle/>
          <a:p>
            <a:pPr algn="ctr" indent="0" marL="0">
              <a:lnSpc>
                <a:spcPts val="2100"/>
              </a:lnSpc>
              <a:buNone/>
            </a:pPr>
            <a:r>
              <a:rPr lang="en-US" sz="1700" b="1" dirty="0">
                <a:solidFill>
                  <a:srgbClr val="403C4E"/>
                </a:solidFill>
                <a:latin typeface="Inter Bold" pitchFamily="34" charset="0"/>
                <a:ea typeface="Inter Bold" pitchFamily="34" charset="-122"/>
                <a:cs typeface="Inter Bold" pitchFamily="34" charset="-120"/>
              </a:rPr>
              <a:t>T-shirt</a:t>
            </a:r>
            <a:endParaRPr lang="en-US" sz="1700" dirty="0"/>
          </a:p>
        </p:txBody>
      </p:sp>
      <p:sp>
        <p:nvSpPr>
          <p:cNvPr id="26" name="Text 22"/>
          <p:cNvSpPr/>
          <p:nvPr/>
        </p:nvSpPr>
        <p:spPr>
          <a:xfrm>
            <a:off x="9284137" y="7477958"/>
            <a:ext cx="3505200" cy="276939"/>
          </a:xfrm>
          <a:prstGeom prst="rect">
            <a:avLst/>
          </a:prstGeom>
          <a:noFill/>
          <a:ln/>
        </p:spPr>
        <p:txBody>
          <a:bodyPr wrap="none" lIns="0" tIns="0" rIns="0" bIns="0" rtlCol="0" anchor="t"/>
          <a:lstStyle/>
          <a:p>
            <a:pPr algn="ctr" indent="0" marL="0">
              <a:lnSpc>
                <a:spcPts val="2150"/>
              </a:lnSpc>
              <a:buNone/>
            </a:pPr>
            <a:r>
              <a:rPr lang="en-US" sz="1350" dirty="0">
                <a:solidFill>
                  <a:srgbClr val="403C4E"/>
                </a:solidFill>
                <a:latin typeface="Inter" pitchFamily="34" charset="0"/>
                <a:ea typeface="Inter" pitchFamily="34" charset="-122"/>
                <a:cs typeface="Inter" pitchFamily="34" charset="-120"/>
              </a:rPr>
              <a:t>Best-Selling Product Revenue</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3728442" y="311825"/>
            <a:ext cx="1106567" cy="228243"/>
          </a:xfrm>
          <a:prstGeom prst="roundRect">
            <a:avLst>
              <a:gd name="adj" fmla="val 4006"/>
            </a:avLst>
          </a:prstGeom>
          <a:noFill/>
          <a:ln w="7620">
            <a:solidFill>
              <a:srgbClr val="FFAD94"/>
            </a:solidFill>
            <a:prstDash val="solid"/>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804047" y="380524"/>
            <a:ext cx="90726" cy="90726"/>
          </a:xfrm>
          <a:prstGeom prst="rect">
            <a:avLst/>
          </a:prstGeom>
        </p:spPr>
      </p:pic>
      <p:sp>
        <p:nvSpPr>
          <p:cNvPr id="4" name="Text 1"/>
          <p:cNvSpPr/>
          <p:nvPr/>
        </p:nvSpPr>
        <p:spPr>
          <a:xfrm>
            <a:off x="3940135" y="353378"/>
            <a:ext cx="819269" cy="145137"/>
          </a:xfrm>
          <a:prstGeom prst="rect">
            <a:avLst/>
          </a:prstGeom>
          <a:noFill/>
          <a:ln/>
        </p:spPr>
        <p:txBody>
          <a:bodyPr wrap="none" lIns="0" tIns="0" rIns="0" bIns="0" rtlCol="0" anchor="t"/>
          <a:lstStyle/>
          <a:p>
            <a:pPr algn="l" indent="0" marL="0">
              <a:lnSpc>
                <a:spcPts val="1100"/>
              </a:lnSpc>
              <a:buNone/>
            </a:pPr>
            <a:r>
              <a:rPr lang="en-US" sz="700" dirty="0">
                <a:solidFill>
                  <a:srgbClr val="FFAD94"/>
                </a:solidFill>
                <a:latin typeface="Inter" pitchFamily="34" charset="0"/>
                <a:ea typeface="Inter" pitchFamily="34" charset="-122"/>
                <a:cs typeface="Inter" pitchFamily="34" charset="-120"/>
              </a:rPr>
              <a:t>OBJECTIVE THREE</a:t>
            </a:r>
            <a:endParaRPr lang="en-US" sz="700" dirty="0"/>
          </a:p>
        </p:txBody>
      </p:sp>
      <p:sp>
        <p:nvSpPr>
          <p:cNvPr id="5" name="Text 2"/>
          <p:cNvSpPr/>
          <p:nvPr/>
        </p:nvSpPr>
        <p:spPr>
          <a:xfrm>
            <a:off x="3728442" y="585430"/>
            <a:ext cx="4433888" cy="283488"/>
          </a:xfrm>
          <a:prstGeom prst="rect">
            <a:avLst/>
          </a:prstGeom>
          <a:noFill/>
          <a:ln/>
        </p:spPr>
        <p:txBody>
          <a:bodyPr wrap="none" lIns="0" tIns="0" rIns="0" bIns="0" rtlCol="0" anchor="t"/>
          <a:lstStyle/>
          <a:p>
            <a:pPr algn="l" indent="0" marL="0">
              <a:lnSpc>
                <a:spcPts val="2200"/>
              </a:lnSpc>
              <a:buNone/>
            </a:pPr>
            <a:r>
              <a:rPr lang="en-US" sz="1750" b="1" dirty="0">
                <a:solidFill>
                  <a:srgbClr val="403C4E"/>
                </a:solidFill>
                <a:latin typeface="Inter Bold" pitchFamily="34" charset="0"/>
                <a:ea typeface="Inter Bold" pitchFamily="34" charset="-122"/>
                <a:cs typeface="Inter Bold" pitchFamily="34" charset="-120"/>
              </a:rPr>
              <a:t>Fulfilment Analysis: Delivery &amp; Logistics</a:t>
            </a:r>
            <a:endParaRPr lang="en-US" sz="1750" dirty="0"/>
          </a:p>
        </p:txBody>
      </p:sp>
      <p:sp>
        <p:nvSpPr>
          <p:cNvPr id="6" name="Shape 3"/>
          <p:cNvSpPr/>
          <p:nvPr/>
        </p:nvSpPr>
        <p:spPr>
          <a:xfrm>
            <a:off x="3728442" y="1166455"/>
            <a:ext cx="1958221" cy="2188131"/>
          </a:xfrm>
          <a:prstGeom prst="roundRect">
            <a:avLst>
              <a:gd name="adj" fmla="val 467"/>
            </a:avLst>
          </a:prstGeom>
          <a:solidFill>
            <a:srgbClr val="F2EEEE"/>
          </a:solidFill>
          <a:ln w="7620">
            <a:solidFill>
              <a:srgbClr val="D8D4D4"/>
            </a:solidFill>
            <a:prstDash val="solid"/>
          </a:ln>
        </p:spPr>
      </p:sp>
      <p:sp>
        <p:nvSpPr>
          <p:cNvPr id="7" name="Text 4"/>
          <p:cNvSpPr/>
          <p:nvPr/>
        </p:nvSpPr>
        <p:spPr>
          <a:xfrm>
            <a:off x="3998714" y="1287423"/>
            <a:ext cx="1417558" cy="177165"/>
          </a:xfrm>
          <a:prstGeom prst="rect">
            <a:avLst/>
          </a:prstGeom>
          <a:noFill/>
          <a:ln/>
        </p:spPr>
        <p:txBody>
          <a:bodyPr wrap="none" lIns="0" tIns="0" rIns="0" bIns="0" rtlCol="0" anchor="t"/>
          <a:lstStyle/>
          <a:p>
            <a:pPr algn="ctr" indent="0" marL="0">
              <a:lnSpc>
                <a:spcPts val="1350"/>
              </a:lnSpc>
              <a:buNone/>
            </a:pPr>
            <a:r>
              <a:rPr lang="en-US" sz="1100" b="1" dirty="0">
                <a:solidFill>
                  <a:srgbClr val="403C4E"/>
                </a:solidFill>
                <a:latin typeface="Inter Bold" pitchFamily="34" charset="0"/>
                <a:ea typeface="Inter Bold" pitchFamily="34" charset="-122"/>
                <a:cs typeface="Inter Bold" pitchFamily="34" charset="-120"/>
              </a:rPr>
              <a:t>Amazon Fulfilment</a:t>
            </a:r>
            <a:endParaRPr lang="en-US" sz="1100" dirty="0"/>
          </a:p>
        </p:txBody>
      </p:sp>
      <p:sp>
        <p:nvSpPr>
          <p:cNvPr id="8" name="Text 5"/>
          <p:cNvSpPr/>
          <p:nvPr/>
        </p:nvSpPr>
        <p:spPr>
          <a:xfrm>
            <a:off x="3849410" y="1577935"/>
            <a:ext cx="1716286" cy="362903"/>
          </a:xfrm>
          <a:prstGeom prst="rect">
            <a:avLst/>
          </a:prstGeom>
          <a:noFill/>
          <a:ln/>
        </p:spPr>
        <p:txBody>
          <a:bodyPr wrap="square" lIns="0" tIns="0" rIns="0" bIns="0" rtlCol="0" anchor="t"/>
          <a:lstStyle/>
          <a:p>
            <a:pPr algn="ctr" indent="0" marL="0">
              <a:lnSpc>
                <a:spcPts val="1400"/>
              </a:lnSpc>
              <a:buNone/>
            </a:pPr>
            <a:r>
              <a:rPr lang="en-US" sz="850" b="1" dirty="0">
                <a:solidFill>
                  <a:srgbClr val="403C4E"/>
                </a:solidFill>
                <a:latin typeface="Inter" pitchFamily="34" charset="0"/>
                <a:ea typeface="Inter" pitchFamily="34" charset="-122"/>
                <a:cs typeface="Inter" pitchFamily="34" charset="-120"/>
              </a:rPr>
              <a:t>Market Share:</a:t>
            </a:r>
            <a:pPr algn="ctr" indent="0" marL="0">
              <a:lnSpc>
                <a:spcPts val="1400"/>
              </a:lnSpc>
              <a:buNone/>
            </a:pPr>
            <a:r>
              <a:rPr lang="en-US" sz="850" dirty="0">
                <a:solidFill>
                  <a:srgbClr val="403C4E"/>
                </a:solidFill>
                <a:latin typeface="Inter" pitchFamily="34" charset="0"/>
                <a:ea typeface="Inter" pitchFamily="34" charset="-122"/>
                <a:cs typeface="Inter" pitchFamily="34" charset="-120"/>
              </a:rPr>
              <a:t> 57.7% of total orders</a:t>
            </a:r>
            <a:endParaRPr lang="en-US" sz="850" dirty="0"/>
          </a:p>
        </p:txBody>
      </p:sp>
      <p:sp>
        <p:nvSpPr>
          <p:cNvPr id="9" name="Text 6"/>
          <p:cNvSpPr/>
          <p:nvPr/>
        </p:nvSpPr>
        <p:spPr>
          <a:xfrm>
            <a:off x="3849410" y="2042874"/>
            <a:ext cx="1716286" cy="544354"/>
          </a:xfrm>
          <a:prstGeom prst="rect">
            <a:avLst/>
          </a:prstGeom>
          <a:noFill/>
          <a:ln/>
        </p:spPr>
        <p:txBody>
          <a:bodyPr wrap="square" lIns="0" tIns="0" rIns="0" bIns="0" rtlCol="0" anchor="t"/>
          <a:lstStyle/>
          <a:p>
            <a:pPr algn="ctr" indent="0" marL="0">
              <a:lnSpc>
                <a:spcPts val="1400"/>
              </a:lnSpc>
              <a:buNone/>
            </a:pPr>
            <a:r>
              <a:rPr lang="en-US" sz="850" b="1" dirty="0">
                <a:solidFill>
                  <a:srgbClr val="403C4E"/>
                </a:solidFill>
                <a:latin typeface="Inter" pitchFamily="34" charset="0"/>
                <a:ea typeface="Inter" pitchFamily="34" charset="-122"/>
                <a:cs typeface="Inter" pitchFamily="34" charset="-120"/>
              </a:rPr>
              <a:t>Performance:</a:t>
            </a:r>
            <a:pPr algn="ctr" indent="0" marL="0">
              <a:lnSpc>
                <a:spcPts val="1400"/>
              </a:lnSpc>
              <a:buNone/>
            </a:pPr>
            <a:r>
              <a:rPr lang="en-US" sz="850" dirty="0">
                <a:solidFill>
                  <a:srgbClr val="403C4E"/>
                </a:solidFill>
                <a:latin typeface="Inter" pitchFamily="34" charset="0"/>
                <a:ea typeface="Inter" pitchFamily="34" charset="-122"/>
                <a:cs typeface="Inter" pitchFamily="34" charset="-120"/>
              </a:rPr>
              <a:t> Fastest delivery times with 17.47% cancellation rate</a:t>
            </a:r>
            <a:endParaRPr lang="en-US" sz="850" dirty="0"/>
          </a:p>
        </p:txBody>
      </p:sp>
      <p:sp>
        <p:nvSpPr>
          <p:cNvPr id="10" name="Text 7"/>
          <p:cNvSpPr/>
          <p:nvPr/>
        </p:nvSpPr>
        <p:spPr>
          <a:xfrm>
            <a:off x="3849410" y="2689265"/>
            <a:ext cx="1716286" cy="544354"/>
          </a:xfrm>
          <a:prstGeom prst="rect">
            <a:avLst/>
          </a:prstGeom>
          <a:noFill/>
          <a:ln/>
        </p:spPr>
        <p:txBody>
          <a:bodyPr wrap="square" lIns="0" tIns="0" rIns="0" bIns="0" rtlCol="0" anchor="t"/>
          <a:lstStyle/>
          <a:p>
            <a:pPr algn="ctr" indent="0" marL="0">
              <a:lnSpc>
                <a:spcPts val="1400"/>
              </a:lnSpc>
              <a:buNone/>
            </a:pPr>
            <a:r>
              <a:rPr lang="en-US" sz="850" b="1" dirty="0">
                <a:solidFill>
                  <a:srgbClr val="403C4E"/>
                </a:solidFill>
                <a:latin typeface="Inter" pitchFamily="34" charset="0"/>
                <a:ea typeface="Inter" pitchFamily="34" charset="-122"/>
                <a:cs typeface="Inter" pitchFamily="34" charset="-120"/>
              </a:rPr>
              <a:t>Customer Satisfaction:</a:t>
            </a:r>
            <a:pPr algn="ctr" indent="0" marL="0">
              <a:lnSpc>
                <a:spcPts val="1400"/>
              </a:lnSpc>
              <a:buNone/>
            </a:pPr>
            <a:r>
              <a:rPr lang="en-US" sz="850" dirty="0">
                <a:solidFill>
                  <a:srgbClr val="403C4E"/>
                </a:solidFill>
                <a:latin typeface="Inter" pitchFamily="34" charset="0"/>
                <a:ea typeface="Inter" pitchFamily="34" charset="-122"/>
                <a:cs typeface="Inter" pitchFamily="34" charset="-120"/>
              </a:rPr>
              <a:t> Highest ratings for reliability and tracking accuracy</a:t>
            </a:r>
            <a:endParaRPr lang="en-US" sz="850" dirty="0"/>
          </a:p>
        </p:txBody>
      </p:sp>
      <p:sp>
        <p:nvSpPr>
          <p:cNvPr id="11" name="Shape 8"/>
          <p:cNvSpPr/>
          <p:nvPr/>
        </p:nvSpPr>
        <p:spPr>
          <a:xfrm>
            <a:off x="3728442" y="3467933"/>
            <a:ext cx="1958221" cy="2188131"/>
          </a:xfrm>
          <a:prstGeom prst="roundRect">
            <a:avLst>
              <a:gd name="adj" fmla="val 467"/>
            </a:avLst>
          </a:prstGeom>
          <a:solidFill>
            <a:srgbClr val="F2EEEE"/>
          </a:solidFill>
          <a:ln w="7620">
            <a:solidFill>
              <a:srgbClr val="D8D4D4"/>
            </a:solidFill>
            <a:prstDash val="solid"/>
          </a:ln>
        </p:spPr>
      </p:sp>
      <p:sp>
        <p:nvSpPr>
          <p:cNvPr id="12" name="Text 9"/>
          <p:cNvSpPr/>
          <p:nvPr/>
        </p:nvSpPr>
        <p:spPr>
          <a:xfrm>
            <a:off x="3998714" y="3588901"/>
            <a:ext cx="1417558" cy="177165"/>
          </a:xfrm>
          <a:prstGeom prst="rect">
            <a:avLst/>
          </a:prstGeom>
          <a:noFill/>
          <a:ln/>
        </p:spPr>
        <p:txBody>
          <a:bodyPr wrap="none" lIns="0" tIns="0" rIns="0" bIns="0" rtlCol="0" anchor="t"/>
          <a:lstStyle/>
          <a:p>
            <a:pPr algn="ctr" indent="0" marL="0">
              <a:lnSpc>
                <a:spcPts val="1350"/>
              </a:lnSpc>
              <a:buNone/>
            </a:pPr>
            <a:r>
              <a:rPr lang="en-US" sz="1100" b="1" dirty="0">
                <a:solidFill>
                  <a:srgbClr val="403C4E"/>
                </a:solidFill>
                <a:latin typeface="Inter Bold" pitchFamily="34" charset="0"/>
                <a:ea typeface="Inter Bold" pitchFamily="34" charset="-122"/>
                <a:cs typeface="Inter Bold" pitchFamily="34" charset="-120"/>
              </a:rPr>
              <a:t>Merchant Fulfilment</a:t>
            </a:r>
            <a:endParaRPr lang="en-US" sz="1100" dirty="0"/>
          </a:p>
        </p:txBody>
      </p:sp>
      <p:sp>
        <p:nvSpPr>
          <p:cNvPr id="13" name="Text 10"/>
          <p:cNvSpPr/>
          <p:nvPr/>
        </p:nvSpPr>
        <p:spPr>
          <a:xfrm>
            <a:off x="3849410" y="3879413"/>
            <a:ext cx="1716286" cy="362903"/>
          </a:xfrm>
          <a:prstGeom prst="rect">
            <a:avLst/>
          </a:prstGeom>
          <a:noFill/>
          <a:ln/>
        </p:spPr>
        <p:txBody>
          <a:bodyPr wrap="square" lIns="0" tIns="0" rIns="0" bIns="0" rtlCol="0" anchor="t"/>
          <a:lstStyle/>
          <a:p>
            <a:pPr algn="ctr" indent="0" marL="0">
              <a:lnSpc>
                <a:spcPts val="1400"/>
              </a:lnSpc>
              <a:buNone/>
            </a:pPr>
            <a:r>
              <a:rPr lang="en-US" sz="850" b="1" dirty="0">
                <a:solidFill>
                  <a:srgbClr val="403C4E"/>
                </a:solidFill>
                <a:latin typeface="Inter" pitchFamily="34" charset="0"/>
                <a:ea typeface="Inter" pitchFamily="34" charset="-122"/>
                <a:cs typeface="Inter" pitchFamily="34" charset="-120"/>
              </a:rPr>
              <a:t>Market Share:</a:t>
            </a:r>
            <a:pPr algn="ctr" indent="0" marL="0">
              <a:lnSpc>
                <a:spcPts val="1400"/>
              </a:lnSpc>
              <a:buNone/>
            </a:pPr>
            <a:r>
              <a:rPr lang="en-US" sz="850" dirty="0">
                <a:solidFill>
                  <a:srgbClr val="403C4E"/>
                </a:solidFill>
                <a:latin typeface="Inter" pitchFamily="34" charset="0"/>
                <a:ea typeface="Inter" pitchFamily="34" charset="-122"/>
                <a:cs typeface="Inter" pitchFamily="34" charset="-120"/>
              </a:rPr>
              <a:t> 42.3% of total orders</a:t>
            </a:r>
            <a:endParaRPr lang="en-US" sz="850" dirty="0"/>
          </a:p>
        </p:txBody>
      </p:sp>
      <p:sp>
        <p:nvSpPr>
          <p:cNvPr id="14" name="Text 11"/>
          <p:cNvSpPr/>
          <p:nvPr/>
        </p:nvSpPr>
        <p:spPr>
          <a:xfrm>
            <a:off x="3849410" y="4344353"/>
            <a:ext cx="1716286" cy="544354"/>
          </a:xfrm>
          <a:prstGeom prst="rect">
            <a:avLst/>
          </a:prstGeom>
          <a:noFill/>
          <a:ln/>
        </p:spPr>
        <p:txBody>
          <a:bodyPr wrap="square" lIns="0" tIns="0" rIns="0" bIns="0" rtlCol="0" anchor="t"/>
          <a:lstStyle/>
          <a:p>
            <a:pPr algn="ctr" indent="0" marL="0">
              <a:lnSpc>
                <a:spcPts val="1400"/>
              </a:lnSpc>
              <a:buNone/>
            </a:pPr>
            <a:r>
              <a:rPr lang="en-US" sz="850" b="1" dirty="0">
                <a:solidFill>
                  <a:srgbClr val="403C4E"/>
                </a:solidFill>
                <a:latin typeface="Inter" pitchFamily="34" charset="0"/>
                <a:ea typeface="Inter" pitchFamily="34" charset="-122"/>
                <a:cs typeface="Inter" pitchFamily="34" charset="-120"/>
              </a:rPr>
              <a:t>Performance:</a:t>
            </a:r>
            <a:pPr algn="ctr" indent="0" marL="0">
              <a:lnSpc>
                <a:spcPts val="1400"/>
              </a:lnSpc>
              <a:buNone/>
            </a:pPr>
            <a:r>
              <a:rPr lang="en-US" sz="850" dirty="0">
                <a:solidFill>
                  <a:srgbClr val="403C4E"/>
                </a:solidFill>
                <a:latin typeface="Inter" pitchFamily="34" charset="0"/>
                <a:ea typeface="Inter" pitchFamily="34" charset="-122"/>
                <a:cs typeface="Inter" pitchFamily="34" charset="-120"/>
              </a:rPr>
              <a:t> Extended delivery windows with 12.79% cancellation rate</a:t>
            </a:r>
            <a:endParaRPr lang="en-US" sz="850" dirty="0"/>
          </a:p>
        </p:txBody>
      </p:sp>
      <p:sp>
        <p:nvSpPr>
          <p:cNvPr id="15" name="Text 12"/>
          <p:cNvSpPr/>
          <p:nvPr/>
        </p:nvSpPr>
        <p:spPr>
          <a:xfrm>
            <a:off x="3849410" y="4990743"/>
            <a:ext cx="1716286" cy="544354"/>
          </a:xfrm>
          <a:prstGeom prst="rect">
            <a:avLst/>
          </a:prstGeom>
          <a:noFill/>
          <a:ln/>
        </p:spPr>
        <p:txBody>
          <a:bodyPr wrap="square" lIns="0" tIns="0" rIns="0" bIns="0" rtlCol="0" anchor="t"/>
          <a:lstStyle/>
          <a:p>
            <a:pPr algn="ctr" indent="0" marL="0">
              <a:lnSpc>
                <a:spcPts val="1400"/>
              </a:lnSpc>
              <a:buNone/>
            </a:pPr>
            <a:r>
              <a:rPr lang="en-US" sz="850" b="1" dirty="0">
                <a:solidFill>
                  <a:srgbClr val="403C4E"/>
                </a:solidFill>
                <a:latin typeface="Inter" pitchFamily="34" charset="0"/>
                <a:ea typeface="Inter" pitchFamily="34" charset="-122"/>
                <a:cs typeface="Inter" pitchFamily="34" charset="-120"/>
              </a:rPr>
              <a:t>Challenge Areas:</a:t>
            </a:r>
            <a:pPr algn="ctr" indent="0" marL="0">
              <a:lnSpc>
                <a:spcPts val="1400"/>
              </a:lnSpc>
              <a:buNone/>
            </a:pPr>
            <a:r>
              <a:rPr lang="en-US" sz="850" dirty="0">
                <a:solidFill>
                  <a:srgbClr val="403C4E"/>
                </a:solidFill>
                <a:latin typeface="Inter" pitchFamily="34" charset="0"/>
                <a:ea typeface="Inter" pitchFamily="34" charset="-122"/>
                <a:cs typeface="Inter" pitchFamily="34" charset="-120"/>
              </a:rPr>
              <a:t> Inconsistent courier performance and delayed shipments</a:t>
            </a:r>
            <a:endParaRPr lang="en-US" sz="850" dirty="0"/>
          </a:p>
        </p:txBody>
      </p:sp>
      <p:sp>
        <p:nvSpPr>
          <p:cNvPr id="16" name="Text 13"/>
          <p:cNvSpPr/>
          <p:nvPr/>
        </p:nvSpPr>
        <p:spPr>
          <a:xfrm>
            <a:off x="3728442" y="5783580"/>
            <a:ext cx="1417558" cy="177165"/>
          </a:xfrm>
          <a:prstGeom prst="rect">
            <a:avLst/>
          </a:prstGeom>
          <a:noFill/>
          <a:ln/>
        </p:spPr>
        <p:txBody>
          <a:bodyPr wrap="none" lIns="0" tIns="0" rIns="0" bIns="0" rtlCol="0" anchor="t"/>
          <a:lstStyle/>
          <a:p>
            <a:pPr algn="l" indent="0" marL="0">
              <a:lnSpc>
                <a:spcPts val="1350"/>
              </a:lnSpc>
              <a:buNone/>
            </a:pPr>
            <a:r>
              <a:rPr lang="en-US" sz="1100" b="1" dirty="0">
                <a:solidFill>
                  <a:srgbClr val="403C4E"/>
                </a:solidFill>
                <a:latin typeface="Inter Bold" pitchFamily="34" charset="0"/>
                <a:ea typeface="Inter Bold" pitchFamily="34" charset="-122"/>
                <a:cs typeface="Inter Bold" pitchFamily="34" charset="-120"/>
              </a:rPr>
              <a:t>Business Insight:</a:t>
            </a:r>
            <a:endParaRPr lang="en-US" sz="1100" dirty="0"/>
          </a:p>
        </p:txBody>
      </p:sp>
      <p:sp>
        <p:nvSpPr>
          <p:cNvPr id="17" name="Text 14"/>
          <p:cNvSpPr/>
          <p:nvPr/>
        </p:nvSpPr>
        <p:spPr>
          <a:xfrm>
            <a:off x="3728442" y="6074093"/>
            <a:ext cx="1958221" cy="1270159"/>
          </a:xfrm>
          <a:prstGeom prst="rect">
            <a:avLst/>
          </a:prstGeom>
          <a:noFill/>
          <a:ln/>
        </p:spPr>
        <p:txBody>
          <a:bodyPr wrap="square" lIns="0" tIns="0" rIns="0" bIns="0" rtlCol="0" anchor="t"/>
          <a:lstStyle/>
          <a:p>
            <a:pPr algn="l" marL="342900" indent="-342900">
              <a:lnSpc>
                <a:spcPts val="1400"/>
              </a:lnSpc>
              <a:buSzPct val="100000"/>
              <a:buChar char="•"/>
            </a:pPr>
            <a:r>
              <a:rPr lang="en-US" sz="850" dirty="0">
                <a:solidFill>
                  <a:srgbClr val="403C4E"/>
                </a:solidFill>
                <a:latin typeface="Inter" pitchFamily="34" charset="0"/>
                <a:ea typeface="Inter" pitchFamily="34" charset="-122"/>
                <a:cs typeface="Inter" pitchFamily="34" charset="-120"/>
              </a:rPr>
              <a:t>Despite </a:t>
            </a:r>
            <a:pPr algn="l" indent="0" marL="0">
              <a:lnSpc>
                <a:spcPts val="1400"/>
              </a:lnSpc>
              <a:buNone/>
            </a:pPr>
            <a:r>
              <a:rPr lang="en-US" sz="850" b="1" dirty="0">
                <a:solidFill>
                  <a:srgbClr val="403C4E"/>
                </a:solidFill>
                <a:latin typeface="Inter" pitchFamily="34" charset="0"/>
                <a:ea typeface="Inter" pitchFamily="34" charset="-122"/>
                <a:cs typeface="Inter" pitchFamily="34" charset="-120"/>
              </a:rPr>
              <a:t>Amazon’s faster delivery</a:t>
            </a:r>
            <a:pPr algn="l" indent="0" marL="0">
              <a:lnSpc>
                <a:spcPts val="1400"/>
              </a:lnSpc>
              <a:buNone/>
            </a:pPr>
            <a:r>
              <a:rPr lang="en-US" sz="850" dirty="0">
                <a:solidFill>
                  <a:srgbClr val="403C4E"/>
                </a:solidFill>
                <a:latin typeface="Inter" pitchFamily="34" charset="0"/>
                <a:ea typeface="Inter" pitchFamily="34" charset="-122"/>
                <a:cs typeface="Inter" pitchFamily="34" charset="-120"/>
              </a:rPr>
              <a:t> and </a:t>
            </a:r>
            <a:pPr algn="l" indent="0" marL="0">
              <a:lnSpc>
                <a:spcPts val="1400"/>
              </a:lnSpc>
              <a:buNone/>
            </a:pPr>
            <a:r>
              <a:rPr lang="en-US" sz="850" b="1" dirty="0">
                <a:solidFill>
                  <a:srgbClr val="403C4E"/>
                </a:solidFill>
                <a:latin typeface="Inter" pitchFamily="34" charset="0"/>
                <a:ea typeface="Inter" pitchFamily="34" charset="-122"/>
                <a:cs typeface="Inter" pitchFamily="34" charset="-120"/>
              </a:rPr>
              <a:t>higher reliability perception, cancellation rates </a:t>
            </a:r>
            <a:pPr algn="l" indent="0" marL="0">
              <a:lnSpc>
                <a:spcPts val="1400"/>
              </a:lnSpc>
              <a:buNone/>
            </a:pPr>
            <a:r>
              <a:rPr lang="en-US" sz="850" dirty="0">
                <a:solidFill>
                  <a:srgbClr val="403C4E"/>
                </a:solidFill>
                <a:latin typeface="Inter" pitchFamily="34" charset="0"/>
                <a:ea typeface="Inter" pitchFamily="34" charset="-122"/>
                <a:cs typeface="Inter" pitchFamily="34" charset="-120"/>
              </a:rPr>
              <a:t>remain significant across both fulfilment types, indicating scope for operational improvement.</a:t>
            </a:r>
            <a:endParaRPr lang="en-US" sz="850" dirty="0"/>
          </a:p>
        </p:txBody>
      </p:sp>
      <p:sp>
        <p:nvSpPr>
          <p:cNvPr id="18" name="Text 15"/>
          <p:cNvSpPr/>
          <p:nvPr/>
        </p:nvSpPr>
        <p:spPr>
          <a:xfrm>
            <a:off x="3728442" y="7383899"/>
            <a:ext cx="1958221" cy="544354"/>
          </a:xfrm>
          <a:prstGeom prst="rect">
            <a:avLst/>
          </a:prstGeom>
          <a:noFill/>
          <a:ln/>
        </p:spPr>
        <p:txBody>
          <a:bodyPr wrap="square" lIns="0" tIns="0" rIns="0" bIns="0" rtlCol="0" anchor="t"/>
          <a:lstStyle/>
          <a:p>
            <a:pPr algn="l" marL="342900" indent="-342900">
              <a:lnSpc>
                <a:spcPts val="1400"/>
              </a:lnSpc>
              <a:buSzPct val="100000"/>
              <a:buChar char="•"/>
            </a:pPr>
            <a:r>
              <a:rPr lang="en-US" sz="850" dirty="0">
                <a:solidFill>
                  <a:srgbClr val="403C4E"/>
                </a:solidFill>
                <a:latin typeface="Inter" pitchFamily="34" charset="0"/>
                <a:ea typeface="Inter" pitchFamily="34" charset="-122"/>
                <a:cs typeface="Inter" pitchFamily="34" charset="-120"/>
              </a:rPr>
              <a:t>Shifting more orders to Amazon fulfilment can </a:t>
            </a:r>
            <a:pPr algn="l" indent="0" marL="0">
              <a:lnSpc>
                <a:spcPts val="1400"/>
              </a:lnSpc>
              <a:buNone/>
            </a:pPr>
            <a:r>
              <a:rPr lang="en-US" sz="850" b="1" dirty="0">
                <a:solidFill>
                  <a:srgbClr val="403C4E"/>
                </a:solidFill>
                <a:latin typeface="Inter" pitchFamily="34" charset="0"/>
                <a:ea typeface="Inter" pitchFamily="34" charset="-122"/>
                <a:cs typeface="Inter" pitchFamily="34" charset="-120"/>
              </a:rPr>
              <a:t>reduce cancellations and improve CX</a:t>
            </a:r>
            <a:pPr algn="l" indent="0" marL="0">
              <a:lnSpc>
                <a:spcPts val="1400"/>
              </a:lnSpc>
              <a:buNone/>
            </a:pPr>
            <a:r>
              <a:rPr lang="en-US" sz="850" dirty="0">
                <a:solidFill>
                  <a:srgbClr val="403C4E"/>
                </a:solidFill>
                <a:latin typeface="Inter" pitchFamily="34" charset="0"/>
                <a:ea typeface="Inter" pitchFamily="34" charset="-122"/>
                <a:cs typeface="Inter" pitchFamily="34" charset="-120"/>
              </a:rPr>
              <a:t>.</a:t>
            </a:r>
            <a:endParaRPr lang="en-US" sz="850" dirty="0"/>
          </a:p>
        </p:txBody>
      </p:sp>
      <p:pic>
        <p:nvPicPr>
          <p:cNvPr id="19" name="Image 1" descr="preencoded.png">    </p:cNvPr>
          <p:cNvPicPr>
            <a:picLocks noChangeAspect="1"/>
          </p:cNvPicPr>
          <p:nvPr/>
        </p:nvPicPr>
        <p:blipFill>
          <a:blip r:embed="rId3"/>
          <a:stretch>
            <a:fillRect/>
          </a:stretch>
        </p:blipFill>
        <p:spPr>
          <a:xfrm>
            <a:off x="5970984" y="1586746"/>
            <a:ext cx="4938355" cy="2425184"/>
          </a:xfrm>
          <a:prstGeom prst="rect">
            <a:avLst/>
          </a:prstGeom>
        </p:spPr>
      </p:pic>
      <p:sp>
        <p:nvSpPr>
          <p:cNvPr id="20" name="Shape 16"/>
          <p:cNvSpPr/>
          <p:nvPr/>
        </p:nvSpPr>
        <p:spPr>
          <a:xfrm>
            <a:off x="7665720" y="4011930"/>
            <a:ext cx="113348" cy="113348"/>
          </a:xfrm>
          <a:prstGeom prst="roundRect">
            <a:avLst>
              <a:gd name="adj" fmla="val 16134"/>
            </a:avLst>
          </a:prstGeom>
          <a:solidFill>
            <a:srgbClr val="4D1200"/>
          </a:solidFill>
          <a:ln/>
        </p:spPr>
      </p:sp>
      <p:sp>
        <p:nvSpPr>
          <p:cNvPr id="21" name="Text 17"/>
          <p:cNvSpPr/>
          <p:nvPr/>
        </p:nvSpPr>
        <p:spPr>
          <a:xfrm>
            <a:off x="7840028" y="4011930"/>
            <a:ext cx="523875" cy="113467"/>
          </a:xfrm>
          <a:prstGeom prst="rect">
            <a:avLst/>
          </a:prstGeom>
          <a:noFill/>
          <a:ln/>
        </p:spPr>
        <p:txBody>
          <a:bodyPr wrap="none" lIns="0" tIns="0" rIns="0" bIns="0" rtlCol="0" anchor="t"/>
          <a:lstStyle/>
          <a:p>
            <a:pPr algn="l" indent="0" marL="0">
              <a:lnSpc>
                <a:spcPts val="850"/>
              </a:lnSpc>
              <a:buNone/>
            </a:pPr>
            <a:r>
              <a:rPr lang="en-US" sz="850" dirty="0">
                <a:solidFill>
                  <a:srgbClr val="403C4E"/>
                </a:solidFill>
                <a:latin typeface="Inter" pitchFamily="34" charset="0"/>
                <a:ea typeface="Inter" pitchFamily="34" charset="-122"/>
                <a:cs typeface="Inter" pitchFamily="34" charset="-120"/>
              </a:rPr>
              <a:t>Easy Ship</a:t>
            </a:r>
            <a:endParaRPr lang="en-US" sz="850" dirty="0"/>
          </a:p>
        </p:txBody>
      </p:sp>
      <p:sp>
        <p:nvSpPr>
          <p:cNvPr id="22" name="Shape 18"/>
          <p:cNvSpPr/>
          <p:nvPr/>
        </p:nvSpPr>
        <p:spPr>
          <a:xfrm>
            <a:off x="8516303" y="4011930"/>
            <a:ext cx="113348" cy="113348"/>
          </a:xfrm>
          <a:prstGeom prst="roundRect">
            <a:avLst>
              <a:gd name="adj" fmla="val 16134"/>
            </a:avLst>
          </a:prstGeom>
          <a:solidFill>
            <a:srgbClr val="BD2C00"/>
          </a:solidFill>
          <a:ln/>
        </p:spPr>
      </p:sp>
      <p:sp>
        <p:nvSpPr>
          <p:cNvPr id="23" name="Text 19"/>
          <p:cNvSpPr/>
          <p:nvPr/>
        </p:nvSpPr>
        <p:spPr>
          <a:xfrm>
            <a:off x="8690610" y="4011930"/>
            <a:ext cx="746165" cy="113467"/>
          </a:xfrm>
          <a:prstGeom prst="rect">
            <a:avLst/>
          </a:prstGeom>
          <a:noFill/>
          <a:ln/>
        </p:spPr>
        <p:txBody>
          <a:bodyPr wrap="none" lIns="0" tIns="0" rIns="0" bIns="0" rtlCol="0" anchor="t"/>
          <a:lstStyle/>
          <a:p>
            <a:pPr algn="l" indent="0" marL="0">
              <a:lnSpc>
                <a:spcPts val="850"/>
              </a:lnSpc>
              <a:buNone/>
            </a:pPr>
            <a:r>
              <a:rPr lang="en-US" sz="850" dirty="0">
                <a:solidFill>
                  <a:srgbClr val="403C4E"/>
                </a:solidFill>
                <a:latin typeface="Inter" pitchFamily="34" charset="0"/>
                <a:ea typeface="Inter" pitchFamily="34" charset="-122"/>
                <a:cs typeface="Inter" pitchFamily="34" charset="-120"/>
              </a:rPr>
              <a:t>Not Easy Ship</a:t>
            </a:r>
            <a:endParaRPr lang="en-US" sz="850" dirty="0"/>
          </a:p>
        </p:txBody>
      </p:sp>
      <p:sp>
        <p:nvSpPr>
          <p:cNvPr id="24" name="Text 20"/>
          <p:cNvSpPr/>
          <p:nvPr/>
        </p:nvSpPr>
        <p:spPr>
          <a:xfrm>
            <a:off x="7534632" y="4479727"/>
            <a:ext cx="1810941" cy="177165"/>
          </a:xfrm>
          <a:prstGeom prst="rect">
            <a:avLst/>
          </a:prstGeom>
          <a:noFill/>
          <a:ln/>
        </p:spPr>
        <p:txBody>
          <a:bodyPr wrap="none" lIns="0" tIns="0" rIns="0" bIns="0" rtlCol="0" anchor="t"/>
          <a:lstStyle/>
          <a:p>
            <a:pPr algn="ctr" indent="0" marL="0">
              <a:lnSpc>
                <a:spcPts val="1350"/>
              </a:lnSpc>
              <a:buNone/>
            </a:pPr>
            <a:r>
              <a:rPr lang="en-US" sz="1100" b="1" dirty="0">
                <a:solidFill>
                  <a:srgbClr val="403C4E"/>
                </a:solidFill>
                <a:latin typeface="Inter Bold" pitchFamily="34" charset="0"/>
                <a:ea typeface="Inter Bold" pitchFamily="34" charset="-122"/>
                <a:cs typeface="Inter Bold" pitchFamily="34" charset="-120"/>
              </a:rPr>
              <a:t>Courier Status Breakdown</a:t>
            </a:r>
            <a:endParaRPr lang="en-US" sz="1100" dirty="0"/>
          </a:p>
        </p:txBody>
      </p:sp>
      <p:pic>
        <p:nvPicPr>
          <p:cNvPr id="25" name="Image 2" descr="preencoded.png">    </p:cNvPr>
          <p:cNvPicPr>
            <a:picLocks noChangeAspect="1"/>
          </p:cNvPicPr>
          <p:nvPr/>
        </p:nvPicPr>
        <p:blipFill>
          <a:blip r:embed="rId4"/>
          <a:stretch>
            <a:fillRect/>
          </a:stretch>
        </p:blipFill>
        <p:spPr>
          <a:xfrm>
            <a:off x="5970984" y="4784408"/>
            <a:ext cx="4938355" cy="2765465"/>
          </a:xfrm>
          <a:prstGeom prst="rect">
            <a:avLst/>
          </a:prstGeom>
        </p:spPr>
      </p:pic>
      <p:sp>
        <p:nvSpPr>
          <p:cNvPr id="26" name="Text 21"/>
          <p:cNvSpPr/>
          <p:nvPr/>
        </p:nvSpPr>
        <p:spPr>
          <a:xfrm>
            <a:off x="7384375" y="7677388"/>
            <a:ext cx="2111454" cy="177165"/>
          </a:xfrm>
          <a:prstGeom prst="rect">
            <a:avLst/>
          </a:prstGeom>
          <a:noFill/>
          <a:ln/>
        </p:spPr>
        <p:txBody>
          <a:bodyPr wrap="none" lIns="0" tIns="0" rIns="0" bIns="0" rtlCol="0" anchor="t"/>
          <a:lstStyle/>
          <a:p>
            <a:pPr algn="ctr" indent="0" marL="0">
              <a:lnSpc>
                <a:spcPts val="1350"/>
              </a:lnSpc>
              <a:buNone/>
            </a:pPr>
            <a:r>
              <a:rPr lang="en-US" sz="1100" b="1" dirty="0">
                <a:solidFill>
                  <a:srgbClr val="403C4E"/>
                </a:solidFill>
                <a:latin typeface="Inter Bold" pitchFamily="34" charset="0"/>
                <a:ea typeface="Inter Bold" pitchFamily="34" charset="-122"/>
                <a:cs typeface="Inter Bold" pitchFamily="34" charset="-120"/>
              </a:rPr>
              <a:t>Cancellation Rate By Fulfiment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3728442" y="311825"/>
            <a:ext cx="1062038" cy="228243"/>
          </a:xfrm>
          <a:prstGeom prst="roundRect">
            <a:avLst>
              <a:gd name="adj" fmla="val 4006"/>
            </a:avLst>
          </a:prstGeom>
          <a:noFill/>
          <a:ln w="7620">
            <a:solidFill>
              <a:srgbClr val="FFAD94"/>
            </a:solidFill>
            <a:prstDash val="solid"/>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804047" y="380524"/>
            <a:ext cx="90726" cy="90726"/>
          </a:xfrm>
          <a:prstGeom prst="rect">
            <a:avLst/>
          </a:prstGeom>
        </p:spPr>
      </p:pic>
      <p:sp>
        <p:nvSpPr>
          <p:cNvPr id="4" name="Text 1"/>
          <p:cNvSpPr/>
          <p:nvPr/>
        </p:nvSpPr>
        <p:spPr>
          <a:xfrm>
            <a:off x="3940135" y="353378"/>
            <a:ext cx="774740" cy="145137"/>
          </a:xfrm>
          <a:prstGeom prst="rect">
            <a:avLst/>
          </a:prstGeom>
          <a:noFill/>
          <a:ln/>
        </p:spPr>
        <p:txBody>
          <a:bodyPr wrap="none" lIns="0" tIns="0" rIns="0" bIns="0" rtlCol="0" anchor="t"/>
          <a:lstStyle/>
          <a:p>
            <a:pPr algn="l" indent="0" marL="0">
              <a:lnSpc>
                <a:spcPts val="1100"/>
              </a:lnSpc>
              <a:buNone/>
            </a:pPr>
            <a:r>
              <a:rPr lang="en-US" sz="700" dirty="0">
                <a:solidFill>
                  <a:srgbClr val="FFAD94"/>
                </a:solidFill>
                <a:latin typeface="Inter" pitchFamily="34" charset="0"/>
                <a:ea typeface="Inter" pitchFamily="34" charset="-122"/>
                <a:cs typeface="Inter" pitchFamily="34" charset="-120"/>
              </a:rPr>
              <a:t>OBJECTIVE FOUR</a:t>
            </a:r>
            <a:endParaRPr lang="en-US" sz="700" dirty="0"/>
          </a:p>
        </p:txBody>
      </p:sp>
      <p:sp>
        <p:nvSpPr>
          <p:cNvPr id="5" name="Text 2"/>
          <p:cNvSpPr/>
          <p:nvPr/>
        </p:nvSpPr>
        <p:spPr>
          <a:xfrm>
            <a:off x="3728442" y="585430"/>
            <a:ext cx="5036106" cy="283488"/>
          </a:xfrm>
          <a:prstGeom prst="rect">
            <a:avLst/>
          </a:prstGeom>
          <a:noFill/>
          <a:ln/>
        </p:spPr>
        <p:txBody>
          <a:bodyPr wrap="none" lIns="0" tIns="0" rIns="0" bIns="0" rtlCol="0" anchor="t"/>
          <a:lstStyle/>
          <a:p>
            <a:pPr algn="l" indent="0" marL="0">
              <a:lnSpc>
                <a:spcPts val="2200"/>
              </a:lnSpc>
              <a:buNone/>
            </a:pPr>
            <a:r>
              <a:rPr lang="en-US" sz="1750" b="1" dirty="0">
                <a:solidFill>
                  <a:srgbClr val="403C4E"/>
                </a:solidFill>
                <a:latin typeface="Inter Bold" pitchFamily="34" charset="0"/>
                <a:ea typeface="Inter Bold" pitchFamily="34" charset="-122"/>
                <a:cs typeface="Inter Bold" pitchFamily="34" charset="-120"/>
              </a:rPr>
              <a:t>Customer Segmentation: B2B vs B2C Insights</a:t>
            </a:r>
            <a:endParaRPr lang="en-US" sz="1750" dirty="0"/>
          </a:p>
        </p:txBody>
      </p:sp>
      <p:pic>
        <p:nvPicPr>
          <p:cNvPr id="6" name="Image 1" descr="preencoded.png">    </p:cNvPr>
          <p:cNvPicPr>
            <a:picLocks noChangeAspect="1"/>
          </p:cNvPicPr>
          <p:nvPr/>
        </p:nvPicPr>
        <p:blipFill>
          <a:blip r:embed="rId3"/>
          <a:stretch>
            <a:fillRect/>
          </a:stretch>
        </p:blipFill>
        <p:spPr>
          <a:xfrm>
            <a:off x="3728442" y="1310402"/>
            <a:ext cx="3448288" cy="1787009"/>
          </a:xfrm>
          <a:prstGeom prst="rect">
            <a:avLst/>
          </a:prstGeom>
        </p:spPr>
      </p:pic>
      <p:sp>
        <p:nvSpPr>
          <p:cNvPr id="7" name="Shape 3"/>
          <p:cNvSpPr/>
          <p:nvPr/>
        </p:nvSpPr>
        <p:spPr>
          <a:xfrm>
            <a:off x="4984552" y="1166455"/>
            <a:ext cx="113348" cy="113348"/>
          </a:xfrm>
          <a:prstGeom prst="roundRect">
            <a:avLst>
              <a:gd name="adj" fmla="val 16134"/>
            </a:avLst>
          </a:prstGeom>
          <a:solidFill>
            <a:srgbClr val="4D1200"/>
          </a:solidFill>
          <a:ln/>
        </p:spPr>
      </p:sp>
      <p:sp>
        <p:nvSpPr>
          <p:cNvPr id="8" name="Text 4"/>
          <p:cNvSpPr/>
          <p:nvPr/>
        </p:nvSpPr>
        <p:spPr>
          <a:xfrm>
            <a:off x="5158859" y="1166455"/>
            <a:ext cx="217527" cy="113467"/>
          </a:xfrm>
          <a:prstGeom prst="rect">
            <a:avLst/>
          </a:prstGeom>
          <a:noFill/>
          <a:ln/>
        </p:spPr>
        <p:txBody>
          <a:bodyPr wrap="none" lIns="0" tIns="0" rIns="0" bIns="0" rtlCol="0" anchor="t"/>
          <a:lstStyle/>
          <a:p>
            <a:pPr algn="l" indent="0" marL="0">
              <a:lnSpc>
                <a:spcPts val="850"/>
              </a:lnSpc>
              <a:buNone/>
            </a:pPr>
            <a:r>
              <a:rPr lang="en-US" sz="850" dirty="0">
                <a:solidFill>
                  <a:srgbClr val="403C4E"/>
                </a:solidFill>
                <a:latin typeface="Inter" pitchFamily="34" charset="0"/>
                <a:ea typeface="Inter" pitchFamily="34" charset="-122"/>
                <a:cs typeface="Inter" pitchFamily="34" charset="-120"/>
              </a:rPr>
              <a:t>B2B</a:t>
            </a:r>
            <a:endParaRPr lang="en-US" sz="850" dirty="0"/>
          </a:p>
        </p:txBody>
      </p:sp>
      <p:sp>
        <p:nvSpPr>
          <p:cNvPr id="9" name="Shape 5"/>
          <p:cNvSpPr/>
          <p:nvPr/>
        </p:nvSpPr>
        <p:spPr>
          <a:xfrm>
            <a:off x="5528786" y="1166455"/>
            <a:ext cx="113348" cy="113348"/>
          </a:xfrm>
          <a:prstGeom prst="roundRect">
            <a:avLst>
              <a:gd name="adj" fmla="val 16134"/>
            </a:avLst>
          </a:prstGeom>
          <a:solidFill>
            <a:srgbClr val="FF430A"/>
          </a:solidFill>
          <a:ln/>
        </p:spPr>
      </p:sp>
      <p:sp>
        <p:nvSpPr>
          <p:cNvPr id="10" name="Text 6"/>
          <p:cNvSpPr/>
          <p:nvPr/>
        </p:nvSpPr>
        <p:spPr>
          <a:xfrm>
            <a:off x="5703094" y="1166455"/>
            <a:ext cx="226100" cy="113467"/>
          </a:xfrm>
          <a:prstGeom prst="rect">
            <a:avLst/>
          </a:prstGeom>
          <a:noFill/>
          <a:ln/>
        </p:spPr>
        <p:txBody>
          <a:bodyPr wrap="none" lIns="0" tIns="0" rIns="0" bIns="0" rtlCol="0" anchor="t"/>
          <a:lstStyle/>
          <a:p>
            <a:pPr algn="l" indent="0" marL="0">
              <a:lnSpc>
                <a:spcPts val="850"/>
              </a:lnSpc>
              <a:buNone/>
            </a:pPr>
            <a:r>
              <a:rPr lang="en-US" sz="850" dirty="0">
                <a:solidFill>
                  <a:srgbClr val="403C4E"/>
                </a:solidFill>
                <a:latin typeface="Inter" pitchFamily="34" charset="0"/>
                <a:ea typeface="Inter" pitchFamily="34" charset="-122"/>
                <a:cs typeface="Inter" pitchFamily="34" charset="-120"/>
              </a:rPr>
              <a:t>B2C</a:t>
            </a:r>
            <a:endParaRPr lang="en-US" sz="850" dirty="0"/>
          </a:p>
        </p:txBody>
      </p:sp>
      <p:sp>
        <p:nvSpPr>
          <p:cNvPr id="11" name="Text 7"/>
          <p:cNvSpPr/>
          <p:nvPr/>
        </p:nvSpPr>
        <p:spPr>
          <a:xfrm>
            <a:off x="4743807" y="3224927"/>
            <a:ext cx="1417558" cy="177165"/>
          </a:xfrm>
          <a:prstGeom prst="rect">
            <a:avLst/>
          </a:prstGeom>
          <a:noFill/>
          <a:ln/>
        </p:spPr>
        <p:txBody>
          <a:bodyPr wrap="none" lIns="0" tIns="0" rIns="0" bIns="0" rtlCol="0" anchor="t"/>
          <a:lstStyle/>
          <a:p>
            <a:pPr algn="ctr" indent="0" marL="0">
              <a:lnSpc>
                <a:spcPts val="1350"/>
              </a:lnSpc>
              <a:buNone/>
            </a:pPr>
            <a:r>
              <a:rPr lang="en-US" sz="1100" b="1" dirty="0">
                <a:solidFill>
                  <a:srgbClr val="403C4E"/>
                </a:solidFill>
                <a:latin typeface="Inter Bold" pitchFamily="34" charset="0"/>
                <a:ea typeface="Inter Bold" pitchFamily="34" charset="-122"/>
                <a:cs typeface="Inter Bold" pitchFamily="34" charset="-120"/>
              </a:rPr>
              <a:t>Orders By Segment</a:t>
            </a:r>
            <a:endParaRPr lang="en-US" sz="1100" dirty="0"/>
          </a:p>
        </p:txBody>
      </p:sp>
      <p:pic>
        <p:nvPicPr>
          <p:cNvPr id="12" name="Image 2" descr="preencoded.png">    </p:cNvPr>
          <p:cNvPicPr>
            <a:picLocks noChangeAspect="1"/>
          </p:cNvPicPr>
          <p:nvPr/>
        </p:nvPicPr>
        <p:blipFill>
          <a:blip r:embed="rId4"/>
          <a:stretch>
            <a:fillRect/>
          </a:stretch>
        </p:blipFill>
        <p:spPr>
          <a:xfrm>
            <a:off x="3728442" y="3529608"/>
            <a:ext cx="3448288" cy="1930956"/>
          </a:xfrm>
          <a:prstGeom prst="rect">
            <a:avLst/>
          </a:prstGeom>
        </p:spPr>
      </p:pic>
      <p:sp>
        <p:nvSpPr>
          <p:cNvPr id="13" name="Text 8"/>
          <p:cNvSpPr/>
          <p:nvPr/>
        </p:nvSpPr>
        <p:spPr>
          <a:xfrm>
            <a:off x="4743807" y="5588079"/>
            <a:ext cx="1417558" cy="177165"/>
          </a:xfrm>
          <a:prstGeom prst="rect">
            <a:avLst/>
          </a:prstGeom>
          <a:noFill/>
          <a:ln/>
        </p:spPr>
        <p:txBody>
          <a:bodyPr wrap="none" lIns="0" tIns="0" rIns="0" bIns="0" rtlCol="0" anchor="t"/>
          <a:lstStyle/>
          <a:p>
            <a:pPr algn="ctr" indent="0" marL="0">
              <a:lnSpc>
                <a:spcPts val="1350"/>
              </a:lnSpc>
              <a:buNone/>
            </a:pPr>
            <a:r>
              <a:rPr lang="en-US" sz="1100" b="1" dirty="0">
                <a:solidFill>
                  <a:srgbClr val="403C4E"/>
                </a:solidFill>
                <a:latin typeface="Inter Bold" pitchFamily="34" charset="0"/>
                <a:ea typeface="Inter Bold" pitchFamily="34" charset="-122"/>
                <a:cs typeface="Inter Bold" pitchFamily="34" charset="-120"/>
              </a:rPr>
              <a:t>AOV By Segment</a:t>
            </a:r>
            <a:endParaRPr lang="en-US" sz="1100" dirty="0"/>
          </a:p>
        </p:txBody>
      </p:sp>
      <p:pic>
        <p:nvPicPr>
          <p:cNvPr id="14" name="Image 3" descr="preencoded.png">    </p:cNvPr>
          <p:cNvPicPr>
            <a:picLocks noChangeAspect="1"/>
          </p:cNvPicPr>
          <p:nvPr/>
        </p:nvPicPr>
        <p:blipFill>
          <a:blip r:embed="rId5"/>
          <a:stretch>
            <a:fillRect/>
          </a:stretch>
        </p:blipFill>
        <p:spPr>
          <a:xfrm>
            <a:off x="3728442" y="5892760"/>
            <a:ext cx="3448288" cy="1930956"/>
          </a:xfrm>
          <a:prstGeom prst="rect">
            <a:avLst/>
          </a:prstGeom>
        </p:spPr>
      </p:pic>
      <p:sp>
        <p:nvSpPr>
          <p:cNvPr id="15" name="Text 9"/>
          <p:cNvSpPr/>
          <p:nvPr/>
        </p:nvSpPr>
        <p:spPr>
          <a:xfrm>
            <a:off x="4718804" y="7951232"/>
            <a:ext cx="1467445" cy="177165"/>
          </a:xfrm>
          <a:prstGeom prst="rect">
            <a:avLst/>
          </a:prstGeom>
          <a:noFill/>
          <a:ln/>
        </p:spPr>
        <p:txBody>
          <a:bodyPr wrap="none" lIns="0" tIns="0" rIns="0" bIns="0" rtlCol="0" anchor="t"/>
          <a:lstStyle/>
          <a:p>
            <a:pPr algn="ctr" indent="0" marL="0">
              <a:lnSpc>
                <a:spcPts val="1350"/>
              </a:lnSpc>
              <a:buNone/>
            </a:pPr>
            <a:r>
              <a:rPr lang="en-US" sz="1100" b="1" dirty="0">
                <a:solidFill>
                  <a:srgbClr val="403C4E"/>
                </a:solidFill>
                <a:latin typeface="Inter Bold" pitchFamily="34" charset="0"/>
                <a:ea typeface="Inter Bold" pitchFamily="34" charset="-122"/>
                <a:cs typeface="Inter Bold" pitchFamily="34" charset="-120"/>
              </a:rPr>
              <a:t>Revenue By Segment</a:t>
            </a:r>
            <a:endParaRPr lang="en-US" sz="1100" dirty="0"/>
          </a:p>
        </p:txBody>
      </p:sp>
      <p:sp>
        <p:nvSpPr>
          <p:cNvPr id="16" name="Shape 10"/>
          <p:cNvSpPr/>
          <p:nvPr/>
        </p:nvSpPr>
        <p:spPr>
          <a:xfrm>
            <a:off x="9177576" y="1166455"/>
            <a:ext cx="15240" cy="4649510"/>
          </a:xfrm>
          <a:prstGeom prst="roundRect">
            <a:avLst>
              <a:gd name="adj" fmla="val 60000"/>
            </a:avLst>
          </a:prstGeom>
          <a:solidFill>
            <a:srgbClr val="D8D4D4"/>
          </a:solidFill>
          <a:ln/>
        </p:spPr>
      </p:sp>
      <p:sp>
        <p:nvSpPr>
          <p:cNvPr id="17" name="Shape 11"/>
          <p:cNvSpPr/>
          <p:nvPr/>
        </p:nvSpPr>
        <p:spPr>
          <a:xfrm>
            <a:off x="9057620" y="1166455"/>
            <a:ext cx="255151" cy="255151"/>
          </a:xfrm>
          <a:prstGeom prst="roundRect">
            <a:avLst>
              <a:gd name="adj" fmla="val 3584"/>
            </a:avLst>
          </a:prstGeom>
          <a:solidFill>
            <a:srgbClr val="F2EEEE"/>
          </a:solidFill>
          <a:ln w="7620">
            <a:solidFill>
              <a:srgbClr val="D8D4D4"/>
            </a:solidFill>
            <a:prstDash val="solid"/>
          </a:ln>
        </p:spPr>
      </p:sp>
      <p:pic>
        <p:nvPicPr>
          <p:cNvPr id="18" name="Image 4"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00125" y="1208961"/>
            <a:ext cx="170021" cy="170021"/>
          </a:xfrm>
          <a:prstGeom prst="rect">
            <a:avLst/>
          </a:prstGeom>
        </p:spPr>
      </p:pic>
      <p:sp>
        <p:nvSpPr>
          <p:cNvPr id="19" name="Text 12"/>
          <p:cNvSpPr/>
          <p:nvPr/>
        </p:nvSpPr>
        <p:spPr>
          <a:xfrm>
            <a:off x="7461052" y="1205389"/>
            <a:ext cx="1369814" cy="354330"/>
          </a:xfrm>
          <a:prstGeom prst="rect">
            <a:avLst/>
          </a:prstGeom>
          <a:noFill/>
          <a:ln/>
        </p:spPr>
        <p:txBody>
          <a:bodyPr wrap="square" lIns="0" tIns="0" rIns="0" bIns="0" rtlCol="0" anchor="t"/>
          <a:lstStyle/>
          <a:p>
            <a:pPr algn="r" indent="0" marL="0">
              <a:lnSpc>
                <a:spcPts val="1350"/>
              </a:lnSpc>
              <a:buNone/>
            </a:pPr>
            <a:r>
              <a:rPr lang="en-US" sz="1100" b="1" dirty="0">
                <a:solidFill>
                  <a:srgbClr val="403C4E"/>
                </a:solidFill>
                <a:latin typeface="Inter Bold" pitchFamily="34" charset="0"/>
                <a:ea typeface="Inter Bold" pitchFamily="34" charset="-122"/>
                <a:cs typeface="Inter Bold" pitchFamily="34" charset="-120"/>
              </a:rPr>
              <a:t>B2B Customer Behaviour</a:t>
            </a:r>
            <a:endParaRPr lang="en-US" sz="1100" dirty="0"/>
          </a:p>
        </p:txBody>
      </p:sp>
      <p:sp>
        <p:nvSpPr>
          <p:cNvPr id="20" name="Text 13"/>
          <p:cNvSpPr/>
          <p:nvPr/>
        </p:nvSpPr>
        <p:spPr>
          <a:xfrm>
            <a:off x="7461052" y="1673066"/>
            <a:ext cx="1369814" cy="544354"/>
          </a:xfrm>
          <a:prstGeom prst="rect">
            <a:avLst/>
          </a:prstGeom>
          <a:noFill/>
          <a:ln/>
        </p:spPr>
        <p:txBody>
          <a:bodyPr wrap="square" lIns="0" tIns="0" rIns="0" bIns="0" rtlCol="0" anchor="t"/>
          <a:lstStyle/>
          <a:p>
            <a:pPr algn="l" marL="342900" indent="-342900">
              <a:lnSpc>
                <a:spcPts val="1400"/>
              </a:lnSpc>
              <a:buSzPct val="100000"/>
              <a:buFont typeface="+mj-lt"/>
              <a:buAutoNum type="arabicPeriod" startAt="1"/>
            </a:pPr>
            <a:r>
              <a:rPr lang="en-US" sz="850" dirty="0">
                <a:solidFill>
                  <a:srgbClr val="403C4E"/>
                </a:solidFill>
                <a:latin typeface="Inter" pitchFamily="34" charset="0"/>
                <a:ea typeface="Inter" pitchFamily="34" charset="-122"/>
                <a:cs typeface="Inter" pitchFamily="34" charset="-120"/>
              </a:rPr>
              <a:t>Very </a:t>
            </a:r>
            <a:pPr algn="l" indent="0" marL="0">
              <a:lnSpc>
                <a:spcPts val="1400"/>
              </a:lnSpc>
              <a:buNone/>
            </a:pPr>
            <a:r>
              <a:rPr lang="en-US" sz="850" b="1" dirty="0">
                <a:solidFill>
                  <a:srgbClr val="403C4E"/>
                </a:solidFill>
                <a:latin typeface="Inter" pitchFamily="34" charset="0"/>
                <a:ea typeface="Inter" pitchFamily="34" charset="-122"/>
                <a:cs typeface="Inter" pitchFamily="34" charset="-120"/>
              </a:rPr>
              <a:t>low order volume</a:t>
            </a:r>
            <a:pPr algn="l" indent="0" marL="0">
              <a:lnSpc>
                <a:spcPts val="1400"/>
              </a:lnSpc>
              <a:buNone/>
            </a:pPr>
            <a:r>
              <a:rPr lang="en-US" sz="850" dirty="0">
                <a:solidFill>
                  <a:srgbClr val="403C4E"/>
                </a:solidFill>
                <a:latin typeface="Inter" pitchFamily="34" charset="0"/>
                <a:ea typeface="Inter" pitchFamily="34" charset="-122"/>
                <a:cs typeface="Inter" pitchFamily="34" charset="-120"/>
              </a:rPr>
              <a:t> but </a:t>
            </a:r>
            <a:pPr algn="l" indent="0" marL="0">
              <a:lnSpc>
                <a:spcPts val="1400"/>
              </a:lnSpc>
              <a:buNone/>
            </a:pPr>
            <a:r>
              <a:rPr lang="en-US" sz="850" b="1" dirty="0">
                <a:solidFill>
                  <a:srgbClr val="403C4E"/>
                </a:solidFill>
                <a:latin typeface="Inter" pitchFamily="34" charset="0"/>
                <a:ea typeface="Inter" pitchFamily="34" charset="-122"/>
                <a:cs typeface="Inter" pitchFamily="34" charset="-120"/>
              </a:rPr>
              <a:t>high order value</a:t>
            </a:r>
            <a:endParaRPr lang="en-US" sz="850" dirty="0"/>
          </a:p>
        </p:txBody>
      </p:sp>
      <p:sp>
        <p:nvSpPr>
          <p:cNvPr id="21" name="Text 14"/>
          <p:cNvSpPr/>
          <p:nvPr/>
        </p:nvSpPr>
        <p:spPr>
          <a:xfrm>
            <a:off x="7461052" y="2257068"/>
            <a:ext cx="1369814" cy="362903"/>
          </a:xfrm>
          <a:prstGeom prst="rect">
            <a:avLst/>
          </a:prstGeom>
          <a:noFill/>
          <a:ln/>
        </p:spPr>
        <p:txBody>
          <a:bodyPr wrap="square" lIns="0" tIns="0" rIns="0" bIns="0" rtlCol="0" anchor="t"/>
          <a:lstStyle/>
          <a:p>
            <a:pPr algn="l" marL="342900" indent="-342900">
              <a:lnSpc>
                <a:spcPts val="1400"/>
              </a:lnSpc>
              <a:buSzPct val="100000"/>
              <a:buFont typeface="+mj-lt"/>
              <a:buAutoNum type="arabicPeriod" startAt="2"/>
            </a:pPr>
            <a:r>
              <a:rPr lang="en-US" sz="850" b="1" dirty="0">
                <a:solidFill>
                  <a:srgbClr val="403C4E"/>
                </a:solidFill>
                <a:latin typeface="Inter" pitchFamily="34" charset="0"/>
                <a:ea typeface="Inter" pitchFamily="34" charset="-122"/>
                <a:cs typeface="Inter" pitchFamily="34" charset="-120"/>
              </a:rPr>
              <a:t>Higher AOV (₹678.78)</a:t>
            </a:r>
            <a:pPr algn="l" indent="0" marL="0">
              <a:lnSpc>
                <a:spcPts val="1400"/>
              </a:lnSpc>
              <a:buNone/>
            </a:pPr>
            <a:r>
              <a:rPr lang="en-US" sz="850" dirty="0">
                <a:solidFill>
                  <a:srgbClr val="403C4E"/>
                </a:solidFill>
                <a:latin typeface="Inter" pitchFamily="34" charset="0"/>
                <a:ea typeface="Inter" pitchFamily="34" charset="-122"/>
                <a:cs typeface="Inter" pitchFamily="34" charset="-120"/>
              </a:rPr>
              <a:t> than B2C</a:t>
            </a:r>
            <a:endParaRPr lang="en-US" sz="850" dirty="0"/>
          </a:p>
        </p:txBody>
      </p:sp>
      <p:sp>
        <p:nvSpPr>
          <p:cNvPr id="22" name="Text 15"/>
          <p:cNvSpPr/>
          <p:nvPr/>
        </p:nvSpPr>
        <p:spPr>
          <a:xfrm>
            <a:off x="7461052" y="2659618"/>
            <a:ext cx="1369814" cy="362903"/>
          </a:xfrm>
          <a:prstGeom prst="rect">
            <a:avLst/>
          </a:prstGeom>
          <a:noFill/>
          <a:ln/>
        </p:spPr>
        <p:txBody>
          <a:bodyPr wrap="square" lIns="0" tIns="0" rIns="0" bIns="0" rtlCol="0" anchor="t"/>
          <a:lstStyle/>
          <a:p>
            <a:pPr algn="l" marL="342900" indent="-342900">
              <a:lnSpc>
                <a:spcPts val="1400"/>
              </a:lnSpc>
              <a:buSzPct val="100000"/>
              <a:buFont typeface="+mj-lt"/>
              <a:buAutoNum type="arabicPeriod" startAt="3"/>
            </a:pPr>
            <a:r>
              <a:rPr lang="en-US" sz="850" b="1" dirty="0">
                <a:solidFill>
                  <a:srgbClr val="403C4E"/>
                </a:solidFill>
                <a:latin typeface="Inter" pitchFamily="34" charset="0"/>
                <a:ea typeface="Inter" pitchFamily="34" charset="-122"/>
                <a:cs typeface="Inter" pitchFamily="34" charset="-120"/>
              </a:rPr>
              <a:t>Low cancellation rate (8.54%)</a:t>
            </a:r>
            <a:endParaRPr lang="en-US" sz="850" dirty="0"/>
          </a:p>
        </p:txBody>
      </p:sp>
      <p:sp>
        <p:nvSpPr>
          <p:cNvPr id="23" name="Text 16"/>
          <p:cNvSpPr/>
          <p:nvPr/>
        </p:nvSpPr>
        <p:spPr>
          <a:xfrm>
            <a:off x="7461052" y="3062168"/>
            <a:ext cx="1369814" cy="544354"/>
          </a:xfrm>
          <a:prstGeom prst="rect">
            <a:avLst/>
          </a:prstGeom>
          <a:noFill/>
          <a:ln/>
        </p:spPr>
        <p:txBody>
          <a:bodyPr wrap="square" lIns="0" tIns="0" rIns="0" bIns="0" rtlCol="0" anchor="t"/>
          <a:lstStyle/>
          <a:p>
            <a:pPr algn="l" marL="342900" indent="-342900">
              <a:lnSpc>
                <a:spcPts val="1400"/>
              </a:lnSpc>
              <a:buSzPct val="100000"/>
              <a:buFont typeface="+mj-lt"/>
              <a:buAutoNum type="arabicPeriod" startAt="4"/>
            </a:pPr>
            <a:r>
              <a:rPr lang="en-US" sz="850" b="1" dirty="0">
                <a:solidFill>
                  <a:srgbClr val="403C4E"/>
                </a:solidFill>
                <a:latin typeface="Inter" pitchFamily="34" charset="0"/>
                <a:ea typeface="Inter" pitchFamily="34" charset="-122"/>
                <a:cs typeface="Inter" pitchFamily="34" charset="-120"/>
              </a:rPr>
              <a:t>Stable and predictable</a:t>
            </a:r>
            <a:pPr algn="l" indent="0" marL="0">
              <a:lnSpc>
                <a:spcPts val="1400"/>
              </a:lnSpc>
              <a:buNone/>
            </a:pPr>
            <a:r>
              <a:rPr lang="en-US" sz="850" dirty="0">
                <a:solidFill>
                  <a:srgbClr val="403C4E"/>
                </a:solidFill>
                <a:latin typeface="Inter" pitchFamily="34" charset="0"/>
                <a:ea typeface="Inter" pitchFamily="34" charset="-122"/>
                <a:cs typeface="Inter" pitchFamily="34" charset="-120"/>
              </a:rPr>
              <a:t> monthly demand</a:t>
            </a:r>
            <a:endParaRPr lang="en-US" sz="850" dirty="0"/>
          </a:p>
        </p:txBody>
      </p:sp>
      <p:sp>
        <p:nvSpPr>
          <p:cNvPr id="24" name="Text 17"/>
          <p:cNvSpPr/>
          <p:nvPr/>
        </p:nvSpPr>
        <p:spPr>
          <a:xfrm>
            <a:off x="7461052" y="3646170"/>
            <a:ext cx="1369814" cy="544354"/>
          </a:xfrm>
          <a:prstGeom prst="rect">
            <a:avLst/>
          </a:prstGeom>
          <a:noFill/>
          <a:ln/>
        </p:spPr>
        <p:txBody>
          <a:bodyPr wrap="square" lIns="0" tIns="0" rIns="0" bIns="0" rtlCol="0" anchor="t"/>
          <a:lstStyle/>
          <a:p>
            <a:pPr algn="l" marL="342900" indent="-342900">
              <a:lnSpc>
                <a:spcPts val="1400"/>
              </a:lnSpc>
              <a:buSzPct val="100000"/>
              <a:buFont typeface="+mj-lt"/>
              <a:buAutoNum type="arabicPeriod" startAt="5"/>
            </a:pPr>
            <a:r>
              <a:rPr lang="en-US" sz="850" dirty="0">
                <a:solidFill>
                  <a:srgbClr val="403C4E"/>
                </a:solidFill>
                <a:latin typeface="Inter" pitchFamily="34" charset="0"/>
                <a:ea typeface="Inter" pitchFamily="34" charset="-122"/>
                <a:cs typeface="Inter" pitchFamily="34" charset="-120"/>
              </a:rPr>
              <a:t>Strong </a:t>
            </a:r>
            <a:pPr algn="l" indent="0" marL="0">
              <a:lnSpc>
                <a:spcPts val="1400"/>
              </a:lnSpc>
              <a:buNone/>
            </a:pPr>
            <a:r>
              <a:rPr lang="en-US" sz="850" b="1" dirty="0">
                <a:solidFill>
                  <a:srgbClr val="403C4E"/>
                </a:solidFill>
                <a:latin typeface="Inter" pitchFamily="34" charset="0"/>
                <a:ea typeface="Inter" pitchFamily="34" charset="-122"/>
                <a:cs typeface="Inter" pitchFamily="34" charset="-120"/>
              </a:rPr>
              <a:t>growth opportunity</a:t>
            </a:r>
            <a:pPr algn="l" indent="0" marL="0">
              <a:lnSpc>
                <a:spcPts val="1400"/>
              </a:lnSpc>
              <a:buNone/>
            </a:pPr>
            <a:r>
              <a:rPr lang="en-US" sz="850" dirty="0">
                <a:solidFill>
                  <a:srgbClr val="403C4E"/>
                </a:solidFill>
                <a:latin typeface="Inter" pitchFamily="34" charset="0"/>
                <a:ea typeface="Inter" pitchFamily="34" charset="-122"/>
                <a:cs typeface="Inter" pitchFamily="34" charset="-120"/>
              </a:rPr>
              <a:t> with better profitability</a:t>
            </a:r>
            <a:endParaRPr lang="en-US" sz="850" dirty="0"/>
          </a:p>
        </p:txBody>
      </p:sp>
      <p:sp>
        <p:nvSpPr>
          <p:cNvPr id="25" name="Shape 18"/>
          <p:cNvSpPr/>
          <p:nvPr/>
        </p:nvSpPr>
        <p:spPr>
          <a:xfrm>
            <a:off x="9057620" y="1846898"/>
            <a:ext cx="255151" cy="255151"/>
          </a:xfrm>
          <a:prstGeom prst="roundRect">
            <a:avLst>
              <a:gd name="adj" fmla="val 3584"/>
            </a:avLst>
          </a:prstGeom>
          <a:solidFill>
            <a:srgbClr val="F2EEEE"/>
          </a:solidFill>
          <a:ln w="7620">
            <a:solidFill>
              <a:srgbClr val="D8D4D4"/>
            </a:solidFill>
            <a:prstDash val="solid"/>
          </a:ln>
        </p:spPr>
      </p:sp>
      <p:pic>
        <p:nvPicPr>
          <p:cNvPr id="26" name="Image 5"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00125" y="1889403"/>
            <a:ext cx="170021" cy="170021"/>
          </a:xfrm>
          <a:prstGeom prst="rect">
            <a:avLst/>
          </a:prstGeom>
        </p:spPr>
      </p:pic>
      <p:sp>
        <p:nvSpPr>
          <p:cNvPr id="27" name="Text 19"/>
          <p:cNvSpPr/>
          <p:nvPr/>
        </p:nvSpPr>
        <p:spPr>
          <a:xfrm>
            <a:off x="9539526" y="1885831"/>
            <a:ext cx="1369814" cy="354330"/>
          </a:xfrm>
          <a:prstGeom prst="rect">
            <a:avLst/>
          </a:prstGeom>
          <a:noFill/>
          <a:ln/>
        </p:spPr>
        <p:txBody>
          <a:bodyPr wrap="square" lIns="0" tIns="0" rIns="0" bIns="0" rtlCol="0" anchor="t"/>
          <a:lstStyle/>
          <a:p>
            <a:pPr algn="l" indent="0" marL="0">
              <a:lnSpc>
                <a:spcPts val="1350"/>
              </a:lnSpc>
              <a:buNone/>
            </a:pPr>
            <a:r>
              <a:rPr lang="en-US" sz="1100" b="1" dirty="0">
                <a:solidFill>
                  <a:srgbClr val="403C4E"/>
                </a:solidFill>
                <a:latin typeface="Inter Bold" pitchFamily="34" charset="0"/>
                <a:ea typeface="Inter Bold" pitchFamily="34" charset="-122"/>
                <a:cs typeface="Inter Bold" pitchFamily="34" charset="-120"/>
              </a:rPr>
              <a:t>B2C Customer Behaviour</a:t>
            </a:r>
            <a:endParaRPr lang="en-US" sz="1100" dirty="0"/>
          </a:p>
        </p:txBody>
      </p:sp>
      <p:sp>
        <p:nvSpPr>
          <p:cNvPr id="28" name="Text 20"/>
          <p:cNvSpPr/>
          <p:nvPr/>
        </p:nvSpPr>
        <p:spPr>
          <a:xfrm>
            <a:off x="9539526" y="2353508"/>
            <a:ext cx="1369814" cy="544354"/>
          </a:xfrm>
          <a:prstGeom prst="rect">
            <a:avLst/>
          </a:prstGeom>
          <a:noFill/>
          <a:ln/>
        </p:spPr>
        <p:txBody>
          <a:bodyPr wrap="square" lIns="0" tIns="0" rIns="0" bIns="0" rtlCol="0" anchor="t"/>
          <a:lstStyle/>
          <a:p>
            <a:pPr algn="l" marL="342900" indent="-342900">
              <a:lnSpc>
                <a:spcPts val="1400"/>
              </a:lnSpc>
              <a:buSzPct val="100000"/>
              <a:buFont typeface="+mj-lt"/>
              <a:buAutoNum type="arabicPeriod" startAt="1"/>
            </a:pPr>
            <a:r>
              <a:rPr lang="en-US" sz="850" b="1" dirty="0">
                <a:solidFill>
                  <a:srgbClr val="403C4E"/>
                </a:solidFill>
                <a:latin typeface="Inter" pitchFamily="34" charset="0"/>
                <a:ea typeface="Inter" pitchFamily="34" charset="-122"/>
                <a:cs typeface="Inter" pitchFamily="34" charset="-120"/>
              </a:rPr>
              <a:t>~99% of total orders</a:t>
            </a:r>
            <a:pPr algn="l" indent="0" marL="0">
              <a:lnSpc>
                <a:spcPts val="1400"/>
              </a:lnSpc>
              <a:buNone/>
            </a:pPr>
            <a:r>
              <a:rPr lang="en-US" sz="850" dirty="0">
                <a:solidFill>
                  <a:srgbClr val="403C4E"/>
                </a:solidFill>
                <a:latin typeface="Inter" pitchFamily="34" charset="0"/>
                <a:ea typeface="Inter" pitchFamily="34" charset="-122"/>
                <a:cs typeface="Inter" pitchFamily="34" charset="-120"/>
              </a:rPr>
              <a:t> and main revenue driver</a:t>
            </a:r>
            <a:endParaRPr lang="en-US" sz="850" dirty="0"/>
          </a:p>
        </p:txBody>
      </p:sp>
      <p:sp>
        <p:nvSpPr>
          <p:cNvPr id="29" name="Text 21"/>
          <p:cNvSpPr/>
          <p:nvPr/>
        </p:nvSpPr>
        <p:spPr>
          <a:xfrm>
            <a:off x="9539526" y="2937510"/>
            <a:ext cx="1369814" cy="544354"/>
          </a:xfrm>
          <a:prstGeom prst="rect">
            <a:avLst/>
          </a:prstGeom>
          <a:noFill/>
          <a:ln/>
        </p:spPr>
        <p:txBody>
          <a:bodyPr wrap="square" lIns="0" tIns="0" rIns="0" bIns="0" rtlCol="0" anchor="t"/>
          <a:lstStyle/>
          <a:p>
            <a:pPr algn="l" marL="342900" indent="-342900">
              <a:lnSpc>
                <a:spcPts val="1400"/>
              </a:lnSpc>
              <a:buSzPct val="100000"/>
              <a:buFont typeface="+mj-lt"/>
              <a:buAutoNum type="arabicPeriod" startAt="2"/>
            </a:pPr>
            <a:r>
              <a:rPr lang="en-US" sz="850" b="1" dirty="0">
                <a:solidFill>
                  <a:srgbClr val="403C4E"/>
                </a:solidFill>
                <a:latin typeface="Inter" pitchFamily="34" charset="0"/>
                <a:ea typeface="Inter" pitchFamily="34" charset="-122"/>
                <a:cs typeface="Inter" pitchFamily="34" charset="-120"/>
              </a:rPr>
              <a:t>Lower AOV (₹608.94)</a:t>
            </a:r>
            <a:pPr algn="l" indent="0" marL="0">
              <a:lnSpc>
                <a:spcPts val="1400"/>
              </a:lnSpc>
              <a:buNone/>
            </a:pPr>
            <a:r>
              <a:rPr lang="en-US" sz="850" dirty="0">
                <a:solidFill>
                  <a:srgbClr val="403C4E"/>
                </a:solidFill>
                <a:latin typeface="Inter" pitchFamily="34" charset="0"/>
                <a:ea typeface="Inter" pitchFamily="34" charset="-122"/>
                <a:cs typeface="Inter" pitchFamily="34" charset="-120"/>
              </a:rPr>
              <a:t> compared to B2B</a:t>
            </a:r>
            <a:endParaRPr lang="en-US" sz="850" dirty="0"/>
          </a:p>
        </p:txBody>
      </p:sp>
      <p:sp>
        <p:nvSpPr>
          <p:cNvPr id="30" name="Text 22"/>
          <p:cNvSpPr/>
          <p:nvPr/>
        </p:nvSpPr>
        <p:spPr>
          <a:xfrm>
            <a:off x="9539526" y="3521512"/>
            <a:ext cx="1369814" cy="544354"/>
          </a:xfrm>
          <a:prstGeom prst="rect">
            <a:avLst/>
          </a:prstGeom>
          <a:noFill/>
          <a:ln/>
        </p:spPr>
        <p:txBody>
          <a:bodyPr wrap="square" lIns="0" tIns="0" rIns="0" bIns="0" rtlCol="0" anchor="t"/>
          <a:lstStyle/>
          <a:p>
            <a:pPr algn="l" marL="342900" indent="-342900">
              <a:lnSpc>
                <a:spcPts val="1400"/>
              </a:lnSpc>
              <a:buSzPct val="100000"/>
              <a:buFont typeface="+mj-lt"/>
              <a:buAutoNum type="arabicPeriod" startAt="3"/>
            </a:pPr>
            <a:r>
              <a:rPr lang="en-US" sz="850" b="1" dirty="0">
                <a:solidFill>
                  <a:srgbClr val="403C4E"/>
                </a:solidFill>
                <a:latin typeface="Inter" pitchFamily="34" charset="0"/>
                <a:ea typeface="Inter" pitchFamily="34" charset="-122"/>
                <a:cs typeface="Inter" pitchFamily="34" charset="-120"/>
              </a:rPr>
              <a:t>Higher cancellations</a:t>
            </a:r>
            <a:pPr algn="l" indent="0" marL="0">
              <a:lnSpc>
                <a:spcPts val="1400"/>
              </a:lnSpc>
              <a:buNone/>
            </a:pPr>
            <a:r>
              <a:rPr lang="en-US" sz="850" dirty="0">
                <a:solidFill>
                  <a:srgbClr val="403C4E"/>
                </a:solidFill>
                <a:latin typeface="Inter" pitchFamily="34" charset="0"/>
                <a:ea typeface="Inter" pitchFamily="34" charset="-122"/>
                <a:cs typeface="Inter" pitchFamily="34" charset="-120"/>
              </a:rPr>
              <a:t>, causing revenue leakage</a:t>
            </a:r>
            <a:endParaRPr lang="en-US" sz="850" dirty="0"/>
          </a:p>
        </p:txBody>
      </p:sp>
      <p:sp>
        <p:nvSpPr>
          <p:cNvPr id="31" name="Text 23"/>
          <p:cNvSpPr/>
          <p:nvPr/>
        </p:nvSpPr>
        <p:spPr>
          <a:xfrm>
            <a:off x="9539526" y="4105513"/>
            <a:ext cx="1369814" cy="362903"/>
          </a:xfrm>
          <a:prstGeom prst="rect">
            <a:avLst/>
          </a:prstGeom>
          <a:noFill/>
          <a:ln/>
        </p:spPr>
        <p:txBody>
          <a:bodyPr wrap="square" lIns="0" tIns="0" rIns="0" bIns="0" rtlCol="0" anchor="t"/>
          <a:lstStyle/>
          <a:p>
            <a:pPr algn="l" marL="342900" indent="-342900">
              <a:lnSpc>
                <a:spcPts val="1400"/>
              </a:lnSpc>
              <a:buSzPct val="100000"/>
              <a:buFont typeface="+mj-lt"/>
              <a:buAutoNum type="arabicPeriod" startAt="4"/>
            </a:pPr>
            <a:r>
              <a:rPr lang="en-US" sz="850" b="1" dirty="0">
                <a:solidFill>
                  <a:srgbClr val="403C4E"/>
                </a:solidFill>
                <a:latin typeface="Inter" pitchFamily="34" charset="0"/>
                <a:ea typeface="Inter" pitchFamily="34" charset="-122"/>
                <a:cs typeface="Inter" pitchFamily="34" charset="-120"/>
              </a:rPr>
              <a:t>Seasonal spikes</a:t>
            </a:r>
            <a:pPr algn="l" indent="0" marL="0">
              <a:lnSpc>
                <a:spcPts val="1400"/>
              </a:lnSpc>
              <a:buNone/>
            </a:pPr>
            <a:r>
              <a:rPr lang="en-US" sz="850" dirty="0">
                <a:solidFill>
                  <a:srgbClr val="403C4E"/>
                </a:solidFill>
                <a:latin typeface="Inter" pitchFamily="34" charset="0"/>
                <a:ea typeface="Inter" pitchFamily="34" charset="-122"/>
                <a:cs typeface="Inter" pitchFamily="34" charset="-120"/>
              </a:rPr>
              <a:t> (peak in April)</a:t>
            </a:r>
            <a:endParaRPr lang="en-US" sz="850" dirty="0"/>
          </a:p>
        </p:txBody>
      </p:sp>
      <p:sp>
        <p:nvSpPr>
          <p:cNvPr id="32" name="Text 24"/>
          <p:cNvSpPr/>
          <p:nvPr/>
        </p:nvSpPr>
        <p:spPr>
          <a:xfrm>
            <a:off x="9539526" y="4508063"/>
            <a:ext cx="1369814" cy="362903"/>
          </a:xfrm>
          <a:prstGeom prst="rect">
            <a:avLst/>
          </a:prstGeom>
          <a:noFill/>
          <a:ln/>
        </p:spPr>
        <p:txBody>
          <a:bodyPr wrap="square" lIns="0" tIns="0" rIns="0" bIns="0" rtlCol="0" anchor="t"/>
          <a:lstStyle/>
          <a:p>
            <a:pPr algn="l" marL="342900" indent="-342900">
              <a:lnSpc>
                <a:spcPts val="1400"/>
              </a:lnSpc>
              <a:buSzPct val="100000"/>
              <a:buFont typeface="+mj-lt"/>
              <a:buAutoNum type="arabicPeriod" startAt="5"/>
            </a:pPr>
            <a:r>
              <a:rPr lang="en-US" sz="850" dirty="0">
                <a:solidFill>
                  <a:srgbClr val="403C4E"/>
                </a:solidFill>
                <a:latin typeface="Inter" pitchFamily="34" charset="0"/>
                <a:ea typeface="Inter" pitchFamily="34" charset="-122"/>
                <a:cs typeface="Inter" pitchFamily="34" charset="-120"/>
              </a:rPr>
              <a:t>High </a:t>
            </a:r>
            <a:pPr algn="l" indent="0" marL="0">
              <a:lnSpc>
                <a:spcPts val="1400"/>
              </a:lnSpc>
              <a:buNone/>
            </a:pPr>
            <a:r>
              <a:rPr lang="en-US" sz="850" b="1" dirty="0">
                <a:solidFill>
                  <a:srgbClr val="403C4E"/>
                </a:solidFill>
                <a:latin typeface="Inter" pitchFamily="34" charset="0"/>
                <a:ea typeface="Inter" pitchFamily="34" charset="-122"/>
                <a:cs typeface="Inter" pitchFamily="34" charset="-120"/>
              </a:rPr>
              <a:t>operational and logistics load</a:t>
            </a:r>
            <a:endParaRPr lang="en-US" sz="850" dirty="0"/>
          </a:p>
        </p:txBody>
      </p:sp>
      <p:sp>
        <p:nvSpPr>
          <p:cNvPr id="33" name="Text 25"/>
          <p:cNvSpPr/>
          <p:nvPr/>
        </p:nvSpPr>
        <p:spPr>
          <a:xfrm>
            <a:off x="7461052" y="5943481"/>
            <a:ext cx="1417558" cy="177165"/>
          </a:xfrm>
          <a:prstGeom prst="rect">
            <a:avLst/>
          </a:prstGeom>
          <a:noFill/>
          <a:ln/>
        </p:spPr>
        <p:txBody>
          <a:bodyPr wrap="none" lIns="0" tIns="0" rIns="0" bIns="0" rtlCol="0" anchor="t"/>
          <a:lstStyle/>
          <a:p>
            <a:pPr algn="l" indent="0" marL="0">
              <a:lnSpc>
                <a:spcPts val="1350"/>
              </a:lnSpc>
              <a:buNone/>
            </a:pPr>
            <a:r>
              <a:rPr lang="en-US" sz="1100" b="1" dirty="0">
                <a:solidFill>
                  <a:srgbClr val="403C4E"/>
                </a:solidFill>
                <a:latin typeface="Inter Bold" pitchFamily="34" charset="0"/>
                <a:ea typeface="Inter Bold" pitchFamily="34" charset="-122"/>
                <a:cs typeface="Inter Bold" pitchFamily="34" charset="-120"/>
              </a:rPr>
              <a:t>Business Insight:</a:t>
            </a:r>
            <a:endParaRPr lang="en-US" sz="1100" dirty="0"/>
          </a:p>
        </p:txBody>
      </p:sp>
      <p:sp>
        <p:nvSpPr>
          <p:cNvPr id="34" name="Text 26"/>
          <p:cNvSpPr/>
          <p:nvPr/>
        </p:nvSpPr>
        <p:spPr>
          <a:xfrm>
            <a:off x="7461052" y="6233993"/>
            <a:ext cx="3448288" cy="362903"/>
          </a:xfrm>
          <a:prstGeom prst="rect">
            <a:avLst/>
          </a:prstGeom>
          <a:noFill/>
          <a:ln/>
        </p:spPr>
        <p:txBody>
          <a:bodyPr wrap="square" lIns="0" tIns="0" rIns="0" bIns="0" rtlCol="0" anchor="t"/>
          <a:lstStyle/>
          <a:p>
            <a:pPr algn="l" marL="342900" indent="-342900">
              <a:lnSpc>
                <a:spcPts val="1400"/>
              </a:lnSpc>
              <a:buSzPct val="100000"/>
              <a:buChar char="•"/>
            </a:pPr>
            <a:r>
              <a:rPr lang="en-US" sz="850" dirty="0">
                <a:solidFill>
                  <a:srgbClr val="403C4E"/>
                </a:solidFill>
                <a:latin typeface="Inter" pitchFamily="34" charset="0"/>
                <a:ea typeface="Inter" pitchFamily="34" charset="-122"/>
                <a:cs typeface="Inter" pitchFamily="34" charset="-120"/>
              </a:rPr>
              <a:t>B2B customers are </a:t>
            </a:r>
            <a:pPr algn="l" indent="0" marL="0">
              <a:lnSpc>
                <a:spcPts val="1400"/>
              </a:lnSpc>
              <a:buNone/>
            </a:pPr>
            <a:r>
              <a:rPr lang="en-US" sz="850" b="1" dirty="0">
                <a:solidFill>
                  <a:srgbClr val="403C4E"/>
                </a:solidFill>
                <a:latin typeface="Inter" pitchFamily="34" charset="0"/>
                <a:ea typeface="Inter" pitchFamily="34" charset="-122"/>
                <a:cs typeface="Inter" pitchFamily="34" charset="-120"/>
              </a:rPr>
              <a:t>higher quality, higher value, and more reliable</a:t>
            </a:r>
            <a:pPr algn="l" indent="0" marL="0">
              <a:lnSpc>
                <a:spcPts val="1400"/>
              </a:lnSpc>
              <a:buNone/>
            </a:pPr>
            <a:r>
              <a:rPr lang="en-US" sz="850" dirty="0">
                <a:solidFill>
                  <a:srgbClr val="403C4E"/>
                </a:solidFill>
                <a:latin typeface="Inter" pitchFamily="34" charset="0"/>
                <a:ea typeface="Inter" pitchFamily="34" charset="-122"/>
                <a:cs typeface="Inter" pitchFamily="34" charset="-120"/>
              </a:rPr>
              <a:t>.</a:t>
            </a:r>
            <a:endParaRPr lang="en-US" sz="850" dirty="0"/>
          </a:p>
        </p:txBody>
      </p:sp>
      <p:sp>
        <p:nvSpPr>
          <p:cNvPr id="35" name="Text 27"/>
          <p:cNvSpPr/>
          <p:nvPr/>
        </p:nvSpPr>
        <p:spPr>
          <a:xfrm>
            <a:off x="7461052" y="6636544"/>
            <a:ext cx="3448288" cy="362903"/>
          </a:xfrm>
          <a:prstGeom prst="rect">
            <a:avLst/>
          </a:prstGeom>
          <a:noFill/>
          <a:ln/>
        </p:spPr>
        <p:txBody>
          <a:bodyPr wrap="square" lIns="0" tIns="0" rIns="0" bIns="0" rtlCol="0" anchor="t"/>
          <a:lstStyle/>
          <a:p>
            <a:pPr algn="l" marL="342900" indent="-342900">
              <a:lnSpc>
                <a:spcPts val="1400"/>
              </a:lnSpc>
              <a:buSzPct val="100000"/>
              <a:buChar char="•"/>
            </a:pPr>
            <a:r>
              <a:rPr lang="en-US" sz="850" dirty="0">
                <a:solidFill>
                  <a:srgbClr val="403C4E"/>
                </a:solidFill>
                <a:latin typeface="Inter" pitchFamily="34" charset="0"/>
                <a:ea typeface="Inter" pitchFamily="34" charset="-122"/>
                <a:cs typeface="Inter" pitchFamily="34" charset="-120"/>
              </a:rPr>
              <a:t>There is a strong opportunity to </a:t>
            </a:r>
            <a:pPr algn="l" indent="0" marL="0">
              <a:lnSpc>
                <a:spcPts val="1400"/>
              </a:lnSpc>
              <a:buNone/>
            </a:pPr>
            <a:r>
              <a:rPr lang="en-US" sz="850" b="1" dirty="0">
                <a:solidFill>
                  <a:srgbClr val="403C4E"/>
                </a:solidFill>
                <a:latin typeface="Inter" pitchFamily="34" charset="0"/>
                <a:ea typeface="Inter" pitchFamily="34" charset="-122"/>
                <a:cs typeface="Inter" pitchFamily="34" charset="-120"/>
              </a:rPr>
              <a:t>scale B2B sales</a:t>
            </a:r>
            <a:pPr algn="l" indent="0" marL="0">
              <a:lnSpc>
                <a:spcPts val="1400"/>
              </a:lnSpc>
              <a:buNone/>
            </a:pPr>
            <a:r>
              <a:rPr lang="en-US" sz="850" dirty="0">
                <a:solidFill>
                  <a:srgbClr val="403C4E"/>
                </a:solidFill>
                <a:latin typeface="Inter" pitchFamily="34" charset="0"/>
                <a:ea typeface="Inter" pitchFamily="34" charset="-122"/>
                <a:cs typeface="Inter" pitchFamily="34" charset="-120"/>
              </a:rPr>
              <a:t> for stability and profitability.</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2066330" y="566142"/>
            <a:ext cx="1484114" cy="342424"/>
          </a:xfrm>
          <a:prstGeom prst="roundRect">
            <a:avLst>
              <a:gd name="adj" fmla="val 2670"/>
            </a:avLst>
          </a:prstGeom>
          <a:noFill/>
          <a:ln w="15240">
            <a:solidFill>
              <a:srgbClr val="FFAD94"/>
            </a:solidFill>
            <a:prstDash val="solid"/>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181106" y="670917"/>
            <a:ext cx="132755" cy="132755"/>
          </a:xfrm>
          <a:prstGeom prst="rect">
            <a:avLst/>
          </a:prstGeom>
        </p:spPr>
      </p:pic>
      <p:sp>
        <p:nvSpPr>
          <p:cNvPr id="4" name="Text 1"/>
          <p:cNvSpPr/>
          <p:nvPr/>
        </p:nvSpPr>
        <p:spPr>
          <a:xfrm>
            <a:off x="2380178" y="631150"/>
            <a:ext cx="1055489" cy="212408"/>
          </a:xfrm>
          <a:prstGeom prst="rect">
            <a:avLst/>
          </a:prstGeom>
          <a:noFill/>
          <a:ln/>
        </p:spPr>
        <p:txBody>
          <a:bodyPr wrap="none" lIns="0" tIns="0" rIns="0" bIns="0" rtlCol="0" anchor="t"/>
          <a:lstStyle/>
          <a:p>
            <a:pPr algn="l" indent="0" marL="0">
              <a:lnSpc>
                <a:spcPts val="1650"/>
              </a:lnSpc>
              <a:buNone/>
            </a:pPr>
            <a:r>
              <a:rPr lang="en-US" sz="1000" dirty="0">
                <a:solidFill>
                  <a:srgbClr val="FFAD94"/>
                </a:solidFill>
                <a:latin typeface="Inter" pitchFamily="34" charset="0"/>
                <a:ea typeface="Inter" pitchFamily="34" charset="-122"/>
                <a:cs typeface="Inter" pitchFamily="34" charset="-120"/>
              </a:rPr>
              <a:t>OBJECTIVE FIVE</a:t>
            </a:r>
            <a:endParaRPr lang="en-US" sz="1000" dirty="0"/>
          </a:p>
        </p:txBody>
      </p:sp>
      <p:sp>
        <p:nvSpPr>
          <p:cNvPr id="5" name="Text 2"/>
          <p:cNvSpPr/>
          <p:nvPr/>
        </p:nvSpPr>
        <p:spPr>
          <a:xfrm>
            <a:off x="2066330" y="974884"/>
            <a:ext cx="7434382" cy="414933"/>
          </a:xfrm>
          <a:prstGeom prst="rect">
            <a:avLst/>
          </a:prstGeom>
          <a:noFill/>
          <a:ln/>
        </p:spPr>
        <p:txBody>
          <a:bodyPr wrap="none" lIns="0" tIns="0" rIns="0" bIns="0" rtlCol="0" anchor="t"/>
          <a:lstStyle/>
          <a:p>
            <a:pPr algn="l" indent="0" marL="0">
              <a:lnSpc>
                <a:spcPts val="3250"/>
              </a:lnSpc>
              <a:buNone/>
            </a:pPr>
            <a:r>
              <a:rPr lang="en-US" sz="2600" b="1" dirty="0">
                <a:solidFill>
                  <a:srgbClr val="403C4E"/>
                </a:solidFill>
                <a:latin typeface="Inter Bold" pitchFamily="34" charset="0"/>
                <a:ea typeface="Inter Bold" pitchFamily="34" charset="-122"/>
                <a:cs typeface="Inter Bold" pitchFamily="34" charset="-120"/>
              </a:rPr>
              <a:t>Geographical Analysis: Regional Performance</a:t>
            </a:r>
            <a:endParaRPr lang="en-US" sz="2600" dirty="0"/>
          </a:p>
        </p:txBody>
      </p:sp>
      <p:sp>
        <p:nvSpPr>
          <p:cNvPr id="6" name="Text 3"/>
          <p:cNvSpPr/>
          <p:nvPr/>
        </p:nvSpPr>
        <p:spPr>
          <a:xfrm>
            <a:off x="2066330" y="1456134"/>
            <a:ext cx="3330893" cy="259199"/>
          </a:xfrm>
          <a:prstGeom prst="rect">
            <a:avLst/>
          </a:prstGeom>
          <a:noFill/>
          <a:ln/>
        </p:spPr>
        <p:txBody>
          <a:bodyPr wrap="none" lIns="0" tIns="0" rIns="0" bIns="0" rtlCol="0" anchor="t"/>
          <a:lstStyle/>
          <a:p>
            <a:pPr algn="l" indent="0" marL="0">
              <a:lnSpc>
                <a:spcPts val="2000"/>
              </a:lnSpc>
              <a:buNone/>
            </a:pPr>
            <a:r>
              <a:rPr lang="en-US" sz="1600" b="1" dirty="0">
                <a:solidFill>
                  <a:srgbClr val="403C4E"/>
                </a:solidFill>
                <a:latin typeface="Inter Bold" pitchFamily="34" charset="0"/>
                <a:ea typeface="Inter Bold" pitchFamily="34" charset="-122"/>
                <a:cs typeface="Inter Bold" pitchFamily="34" charset="-120"/>
              </a:rPr>
              <a:t>State-Level Revenue Distribution</a:t>
            </a:r>
            <a:endParaRPr lang="en-US" sz="1600" dirty="0"/>
          </a:p>
        </p:txBody>
      </p:sp>
      <p:sp>
        <p:nvSpPr>
          <p:cNvPr id="7" name="Text 4"/>
          <p:cNvSpPr/>
          <p:nvPr/>
        </p:nvSpPr>
        <p:spPr>
          <a:xfrm>
            <a:off x="2066330" y="1964174"/>
            <a:ext cx="10497622" cy="2124075"/>
          </a:xfrm>
          <a:prstGeom prst="rect">
            <a:avLst/>
          </a:prstGeom>
          <a:noFill/>
          <a:ln/>
        </p:spPr>
        <p:txBody>
          <a:bodyPr wrap="square" lIns="0" tIns="0" rIns="0" bIns="0" rtlCol="0" anchor="t"/>
          <a:lstStyle/>
          <a:p>
            <a:pPr algn="l" indent="0" marL="0">
              <a:lnSpc>
                <a:spcPts val="2050"/>
              </a:lnSpc>
              <a:buNone/>
            </a:pPr>
            <a:r>
              <a:rPr lang="en-US" sz="1300" dirty="0">
                <a:solidFill>
                  <a:srgbClr val="403C4E"/>
                </a:solidFill>
                <a:latin typeface="Inter" pitchFamily="34" charset="0"/>
                <a:ea typeface="Inter" pitchFamily="34" charset="-122"/>
                <a:cs typeface="Inter" pitchFamily="34" charset="-120"/>
              </a:rPr>
              <a:t>From the </a:t>
            </a:r>
            <a:pPr algn="l" indent="0" marL="0">
              <a:lnSpc>
                <a:spcPts val="2050"/>
              </a:lnSpc>
              <a:buNone/>
            </a:pPr>
            <a:r>
              <a:rPr lang="en-US" sz="1300" b="1" dirty="0">
                <a:solidFill>
                  <a:srgbClr val="403C4E"/>
                </a:solidFill>
                <a:latin typeface="Inter" pitchFamily="34" charset="0"/>
                <a:ea typeface="Inter" pitchFamily="34" charset="-122"/>
                <a:cs typeface="Inter" pitchFamily="34" charset="-120"/>
              </a:rPr>
              <a:t>Geographical Analysis</a:t>
            </a:r>
            <a:pPr algn="l" indent="0" marL="0">
              <a:lnSpc>
                <a:spcPts val="2050"/>
              </a:lnSpc>
              <a:buNone/>
            </a:pPr>
            <a:r>
              <a:rPr lang="en-US" sz="1300" dirty="0">
                <a:solidFill>
                  <a:srgbClr val="403C4E"/>
                </a:solidFill>
                <a:latin typeface="Inter" pitchFamily="34" charset="0"/>
                <a:ea typeface="Inter" pitchFamily="34" charset="-122"/>
                <a:cs typeface="Inter" pitchFamily="34" charset="-120"/>
              </a:rPr>
              <a:t>, it is clear that sales and revenue are </a:t>
            </a:r>
            <a:pPr algn="l" indent="0" marL="0">
              <a:lnSpc>
                <a:spcPts val="2050"/>
              </a:lnSpc>
              <a:buNone/>
            </a:pPr>
            <a:r>
              <a:rPr lang="en-US" sz="1300" b="1" dirty="0">
                <a:solidFill>
                  <a:srgbClr val="403C4E"/>
                </a:solidFill>
                <a:latin typeface="Inter" pitchFamily="34" charset="0"/>
                <a:ea typeface="Inter" pitchFamily="34" charset="-122"/>
                <a:cs typeface="Inter" pitchFamily="34" charset="-120"/>
              </a:rPr>
              <a:t>highly concentrated in a few key states and metro regions</a:t>
            </a:r>
            <a:pPr algn="l" indent="0" marL="0">
              <a:lnSpc>
                <a:spcPts val="2050"/>
              </a:lnSpc>
              <a:buNone/>
            </a:pPr>
            <a:r>
              <a:rPr lang="en-US" sz="1300" dirty="0">
                <a:solidFill>
                  <a:srgbClr val="403C4E"/>
                </a:solidFill>
                <a:latin typeface="Inter" pitchFamily="34" charset="0"/>
                <a:ea typeface="Inter" pitchFamily="34" charset="-122"/>
                <a:cs typeface="Inter" pitchFamily="34" charset="-120"/>
              </a:rPr>
              <a:t>. </a:t>
            </a:r>
            <a:pPr algn="l" indent="0" marL="0">
              <a:lnSpc>
                <a:spcPts val="2050"/>
              </a:lnSpc>
              <a:buNone/>
            </a:pPr>
            <a:r>
              <a:rPr lang="en-US" sz="1300" b="1" dirty="0">
                <a:solidFill>
                  <a:srgbClr val="403C4E"/>
                </a:solidFill>
                <a:latin typeface="Inter" pitchFamily="34" charset="0"/>
                <a:ea typeface="Inter" pitchFamily="34" charset="-122"/>
                <a:cs typeface="Inter" pitchFamily="34" charset="-120"/>
              </a:rPr>
              <a:t>Maharashtra</a:t>
            </a:r>
            <a:pPr algn="l" indent="0" marL="0">
              <a:lnSpc>
                <a:spcPts val="2050"/>
              </a:lnSpc>
              <a:buNone/>
            </a:pPr>
            <a:r>
              <a:rPr lang="en-US" sz="1300" dirty="0">
                <a:solidFill>
                  <a:srgbClr val="403C4E"/>
                </a:solidFill>
                <a:latin typeface="Inter" pitchFamily="34" charset="0"/>
                <a:ea typeface="Inter" pitchFamily="34" charset="-122"/>
                <a:cs typeface="Inter" pitchFamily="34" charset="-120"/>
              </a:rPr>
              <a:t> emerges as the </a:t>
            </a:r>
            <a:pPr algn="l" indent="0" marL="0">
              <a:lnSpc>
                <a:spcPts val="2050"/>
              </a:lnSpc>
              <a:buNone/>
            </a:pPr>
            <a:r>
              <a:rPr lang="en-US" sz="1300" b="1" dirty="0">
                <a:solidFill>
                  <a:srgbClr val="403C4E"/>
                </a:solidFill>
                <a:latin typeface="Inter" pitchFamily="34" charset="0"/>
                <a:ea typeface="Inter" pitchFamily="34" charset="-122"/>
                <a:cs typeface="Inter" pitchFamily="34" charset="-120"/>
              </a:rPr>
              <a:t>top-performing state</a:t>
            </a:r>
            <a:pPr algn="l" indent="0" marL="0">
              <a:lnSpc>
                <a:spcPts val="2050"/>
              </a:lnSpc>
              <a:buNone/>
            </a:pPr>
            <a:r>
              <a:rPr lang="en-US" sz="1300" dirty="0">
                <a:solidFill>
                  <a:srgbClr val="403C4E"/>
                </a:solidFill>
                <a:latin typeface="Inter" pitchFamily="34" charset="0"/>
                <a:ea typeface="Inter" pitchFamily="34" charset="-122"/>
                <a:cs typeface="Inter" pitchFamily="34" charset="-120"/>
              </a:rPr>
              <a:t> in terms of both order volume and revenue, with Bengaluru standing out as the </a:t>
            </a:r>
            <a:pPr algn="l" indent="0" marL="0">
              <a:lnSpc>
                <a:spcPts val="2050"/>
              </a:lnSpc>
              <a:buNone/>
            </a:pPr>
            <a:r>
              <a:rPr lang="en-US" sz="1300" b="1" dirty="0">
                <a:solidFill>
                  <a:srgbClr val="403C4E"/>
                </a:solidFill>
                <a:latin typeface="Inter" pitchFamily="34" charset="0"/>
                <a:ea typeface="Inter" pitchFamily="34" charset="-122"/>
                <a:cs typeface="Inter" pitchFamily="34" charset="-120"/>
              </a:rPr>
              <a:t>highest revenue–generating city</a:t>
            </a:r>
            <a:pPr algn="l" indent="0" marL="0">
              <a:lnSpc>
                <a:spcPts val="2050"/>
              </a:lnSpc>
              <a:buNone/>
            </a:pPr>
            <a:r>
              <a:rPr lang="en-US" sz="1300" dirty="0">
                <a:solidFill>
                  <a:srgbClr val="403C4E"/>
                </a:solidFill>
                <a:latin typeface="Inter" pitchFamily="34" charset="0"/>
                <a:ea typeface="Inter" pitchFamily="34" charset="-122"/>
                <a:cs typeface="Inter" pitchFamily="34" charset="-120"/>
              </a:rPr>
              <a:t>, highlighting the strong contribution of urban and economically developed regions. The </a:t>
            </a:r>
            <a:pPr algn="l" indent="0" marL="0">
              <a:lnSpc>
                <a:spcPts val="2050"/>
              </a:lnSpc>
              <a:buNone/>
            </a:pPr>
            <a:r>
              <a:rPr lang="en-US" sz="1300" b="1" dirty="0">
                <a:solidFill>
                  <a:srgbClr val="403C4E"/>
                </a:solidFill>
                <a:latin typeface="Inter" pitchFamily="34" charset="0"/>
                <a:ea typeface="Inter" pitchFamily="34" charset="-122"/>
                <a:cs typeface="Inter" pitchFamily="34" charset="-120"/>
              </a:rPr>
              <a:t>top five states contribute 56.08% of total revenue</a:t>
            </a:r>
            <a:pPr algn="l" indent="0" marL="0">
              <a:lnSpc>
                <a:spcPts val="2050"/>
              </a:lnSpc>
              <a:buNone/>
            </a:pPr>
            <a:r>
              <a:rPr lang="en-US" sz="1300" dirty="0">
                <a:solidFill>
                  <a:srgbClr val="403C4E"/>
                </a:solidFill>
                <a:latin typeface="Inter" pitchFamily="34" charset="0"/>
                <a:ea typeface="Inter" pitchFamily="34" charset="-122"/>
                <a:cs typeface="Inter" pitchFamily="34" charset="-120"/>
              </a:rPr>
              <a:t>, indicating a significant </a:t>
            </a:r>
            <a:pPr algn="l" indent="0" marL="0">
              <a:lnSpc>
                <a:spcPts val="2050"/>
              </a:lnSpc>
              <a:buNone/>
            </a:pPr>
            <a:r>
              <a:rPr lang="en-US" sz="1300" b="1" dirty="0">
                <a:solidFill>
                  <a:srgbClr val="403C4E"/>
                </a:solidFill>
                <a:latin typeface="Inter" pitchFamily="34" charset="0"/>
                <a:ea typeface="Inter" pitchFamily="34" charset="-122"/>
                <a:cs typeface="Inter" pitchFamily="34" charset="-120"/>
              </a:rPr>
              <a:t>geographic dependency risk</a:t>
            </a:r>
            <a:pPr algn="l" indent="0" marL="0">
              <a:lnSpc>
                <a:spcPts val="2050"/>
              </a:lnSpc>
              <a:buNone/>
            </a:pPr>
            <a:r>
              <a:rPr lang="en-US" sz="1300" dirty="0">
                <a:solidFill>
                  <a:srgbClr val="403C4E"/>
                </a:solidFill>
                <a:latin typeface="Inter" pitchFamily="34" charset="0"/>
                <a:ea typeface="Inter" pitchFamily="34" charset="-122"/>
                <a:cs typeface="Inter" pitchFamily="34" charset="-120"/>
              </a:rPr>
              <a:t>, as business performance is heavily reliant on limited regions. On the risk side, certain low-volume regions such as </a:t>
            </a:r>
            <a:pPr algn="l" indent="0" marL="0">
              <a:lnSpc>
                <a:spcPts val="2050"/>
              </a:lnSpc>
              <a:buNone/>
            </a:pPr>
            <a:r>
              <a:rPr lang="en-US" sz="1300" b="1" dirty="0">
                <a:solidFill>
                  <a:srgbClr val="403C4E"/>
                </a:solidFill>
                <a:latin typeface="Inter" pitchFamily="34" charset="0"/>
                <a:ea typeface="Inter" pitchFamily="34" charset="-122"/>
                <a:cs typeface="Inter" pitchFamily="34" charset="-120"/>
              </a:rPr>
              <a:t>Lakshadweep show exceptionally high cancellation rates (25%)</a:t>
            </a:r>
            <a:pPr algn="l" indent="0" marL="0">
              <a:lnSpc>
                <a:spcPts val="2050"/>
              </a:lnSpc>
              <a:buNone/>
            </a:pPr>
            <a:r>
              <a:rPr lang="en-US" sz="1300" dirty="0">
                <a:solidFill>
                  <a:srgbClr val="403C4E"/>
                </a:solidFill>
                <a:latin typeface="Inter" pitchFamily="34" charset="0"/>
                <a:ea typeface="Inter" pitchFamily="34" charset="-122"/>
                <a:cs typeface="Inter" pitchFamily="34" charset="-120"/>
              </a:rPr>
              <a:t>, pointing to potential logistics, delivery reach, or customer experience challenges in remote locations. Overall, the dashboard suggests that while core states drive growth and stability, there is a clear need to </a:t>
            </a:r>
            <a:pPr algn="l" indent="0" marL="0">
              <a:lnSpc>
                <a:spcPts val="2050"/>
              </a:lnSpc>
              <a:buNone/>
            </a:pPr>
            <a:r>
              <a:rPr lang="en-US" sz="1300" b="1" dirty="0">
                <a:solidFill>
                  <a:srgbClr val="403C4E"/>
                </a:solidFill>
                <a:latin typeface="Inter" pitchFamily="34" charset="0"/>
                <a:ea typeface="Inter" pitchFamily="34" charset="-122"/>
                <a:cs typeface="Inter" pitchFamily="34" charset="-120"/>
              </a:rPr>
              <a:t>diversify geographically and address high-cancellation regions</a:t>
            </a:r>
            <a:pPr algn="l" indent="0" marL="0">
              <a:lnSpc>
                <a:spcPts val="2050"/>
              </a:lnSpc>
              <a:buNone/>
            </a:pPr>
            <a:r>
              <a:rPr lang="en-US" sz="1300" dirty="0">
                <a:solidFill>
                  <a:srgbClr val="403C4E"/>
                </a:solidFill>
                <a:latin typeface="Inter" pitchFamily="34" charset="0"/>
                <a:ea typeface="Inter" pitchFamily="34" charset="-122"/>
                <a:cs typeface="Inter" pitchFamily="34" charset="-120"/>
              </a:rPr>
              <a:t> to reduce risk and improve overall operational efficiency.</a:t>
            </a:r>
            <a:endParaRPr lang="en-US" sz="1300" dirty="0"/>
          </a:p>
        </p:txBody>
      </p:sp>
      <p:pic>
        <p:nvPicPr>
          <p:cNvPr id="8" name="Image 1" descr="preencoded.png">    </p:cNvPr>
          <p:cNvPicPr>
            <a:picLocks noChangeAspect="1"/>
          </p:cNvPicPr>
          <p:nvPr/>
        </p:nvPicPr>
        <p:blipFill>
          <a:blip r:embed="rId3"/>
          <a:stretch>
            <a:fillRect/>
          </a:stretch>
        </p:blipFill>
        <p:spPr>
          <a:xfrm>
            <a:off x="2066330" y="4461629"/>
            <a:ext cx="4573429" cy="2600206"/>
          </a:xfrm>
          <a:prstGeom prst="rect">
            <a:avLst/>
          </a:prstGeom>
        </p:spPr>
      </p:pic>
      <p:sp>
        <p:nvSpPr>
          <p:cNvPr id="9" name="Text 5"/>
          <p:cNvSpPr/>
          <p:nvPr/>
        </p:nvSpPr>
        <p:spPr>
          <a:xfrm>
            <a:off x="2066330" y="7248525"/>
            <a:ext cx="4937284" cy="265509"/>
          </a:xfrm>
          <a:prstGeom prst="rect">
            <a:avLst/>
          </a:prstGeom>
          <a:noFill/>
          <a:ln/>
        </p:spPr>
        <p:txBody>
          <a:bodyPr wrap="none" lIns="0" tIns="0" rIns="0" bIns="0" rtlCol="0" anchor="t"/>
          <a:lstStyle/>
          <a:p>
            <a:pPr algn="ctr" indent="0" marL="0">
              <a:lnSpc>
                <a:spcPts val="2050"/>
              </a:lnSpc>
              <a:buNone/>
            </a:pPr>
            <a:r>
              <a:rPr lang="en-US" sz="1300" b="1" dirty="0">
                <a:solidFill>
                  <a:srgbClr val="403C4E"/>
                </a:solidFill>
                <a:latin typeface="Inter" pitchFamily="34" charset="0"/>
                <a:ea typeface="Inter" pitchFamily="34" charset="-122"/>
                <a:cs typeface="Inter" pitchFamily="34" charset="-120"/>
              </a:rPr>
              <a:t>Top 5 States By Revenue</a:t>
            </a:r>
            <a:endParaRPr lang="en-US" sz="1300" dirty="0"/>
          </a:p>
        </p:txBody>
      </p:sp>
      <p:pic>
        <p:nvPicPr>
          <p:cNvPr id="10" name="Image 2" descr="preencoded.png">    </p:cNvPr>
          <p:cNvPicPr>
            <a:picLocks noChangeAspect="1"/>
          </p:cNvPicPr>
          <p:nvPr/>
        </p:nvPicPr>
        <p:blipFill>
          <a:blip r:embed="rId4"/>
          <a:stretch>
            <a:fillRect/>
          </a:stretch>
        </p:blipFill>
        <p:spPr>
          <a:xfrm>
            <a:off x="7416046" y="4461629"/>
            <a:ext cx="4573429" cy="2563297"/>
          </a:xfrm>
          <a:prstGeom prst="rect">
            <a:avLst/>
          </a:prstGeom>
        </p:spPr>
      </p:pic>
      <p:sp>
        <p:nvSpPr>
          <p:cNvPr id="11" name="Text 6"/>
          <p:cNvSpPr/>
          <p:nvPr/>
        </p:nvSpPr>
        <p:spPr>
          <a:xfrm>
            <a:off x="7416046" y="7211616"/>
            <a:ext cx="5155406" cy="265509"/>
          </a:xfrm>
          <a:prstGeom prst="rect">
            <a:avLst/>
          </a:prstGeom>
          <a:noFill/>
          <a:ln/>
        </p:spPr>
        <p:txBody>
          <a:bodyPr wrap="none" lIns="0" tIns="0" rIns="0" bIns="0" rtlCol="0" anchor="t"/>
          <a:lstStyle/>
          <a:p>
            <a:pPr algn="ctr" indent="0" marL="0">
              <a:lnSpc>
                <a:spcPts val="2050"/>
              </a:lnSpc>
              <a:buNone/>
            </a:pPr>
            <a:r>
              <a:rPr lang="en-US" sz="1300" b="1" dirty="0">
                <a:solidFill>
                  <a:srgbClr val="403C4E"/>
                </a:solidFill>
                <a:latin typeface="Inter" pitchFamily="34" charset="0"/>
                <a:ea typeface="Inter" pitchFamily="34" charset="-122"/>
                <a:cs typeface="Inter" pitchFamily="34" charset="-120"/>
              </a:rPr>
              <a:t>Top 5 Cities By Revenue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3400425" y="438626"/>
            <a:ext cx="4575929" cy="309324"/>
          </a:xfrm>
          <a:prstGeom prst="rect">
            <a:avLst/>
          </a:prstGeom>
          <a:noFill/>
          <a:ln/>
        </p:spPr>
        <p:txBody>
          <a:bodyPr wrap="none" lIns="0" tIns="0" rIns="0" bIns="0" rtlCol="0" anchor="t"/>
          <a:lstStyle/>
          <a:p>
            <a:pPr algn="l" indent="0" marL="0">
              <a:lnSpc>
                <a:spcPts val="2400"/>
              </a:lnSpc>
              <a:buNone/>
            </a:pPr>
            <a:r>
              <a:rPr lang="en-US" sz="1900" b="1" dirty="0">
                <a:solidFill>
                  <a:srgbClr val="403C4E"/>
                </a:solidFill>
                <a:latin typeface="Inter Bold" pitchFamily="34" charset="0"/>
                <a:ea typeface="Inter Bold" pitchFamily="34" charset="-122"/>
                <a:cs typeface="Inter Bold" pitchFamily="34" charset="-120"/>
              </a:rPr>
              <a:t>Strategic Business Recommendations</a:t>
            </a:r>
            <a:endParaRPr lang="en-US" sz="1900" dirty="0"/>
          </a:p>
        </p:txBody>
      </p:sp>
      <p:sp>
        <p:nvSpPr>
          <p:cNvPr id="3" name="Text 1"/>
          <p:cNvSpPr/>
          <p:nvPr/>
        </p:nvSpPr>
        <p:spPr>
          <a:xfrm>
            <a:off x="3400425" y="995482"/>
            <a:ext cx="7829431" cy="396240"/>
          </a:xfrm>
          <a:prstGeom prst="rect">
            <a:avLst/>
          </a:prstGeom>
          <a:noFill/>
          <a:ln/>
        </p:spPr>
        <p:txBody>
          <a:bodyPr wrap="square" lIns="0" tIns="0" rIns="0" bIns="0" rtlCol="0" anchor="t"/>
          <a:lstStyle/>
          <a:p>
            <a:pPr algn="l" indent="0" marL="0">
              <a:lnSpc>
                <a:spcPts val="1550"/>
              </a:lnSpc>
              <a:buNone/>
            </a:pPr>
            <a:r>
              <a:rPr lang="en-US" sz="950" dirty="0">
                <a:solidFill>
                  <a:srgbClr val="403C4E"/>
                </a:solidFill>
                <a:latin typeface="Inter" pitchFamily="34" charset="0"/>
                <a:ea typeface="Inter" pitchFamily="34" charset="-122"/>
                <a:cs typeface="Inter" pitchFamily="34" charset="-120"/>
              </a:rPr>
              <a:t>Based on comprehensive data analysis, we recommend the following strategic initiatives to enhance performance across key operational dimensions:</a:t>
            </a:r>
            <a:endParaRPr lang="en-US" sz="950" dirty="0"/>
          </a:p>
        </p:txBody>
      </p:sp>
      <p:pic>
        <p:nvPicPr>
          <p:cNvPr id="4" name="Image 0" descr="preencoded.png">    </p:cNvPr>
          <p:cNvPicPr>
            <a:picLocks noChangeAspect="1"/>
          </p:cNvPicPr>
          <p:nvPr/>
        </p:nvPicPr>
        <p:blipFill>
          <a:blip r:embed="rId1"/>
          <a:stretch>
            <a:fillRect/>
          </a:stretch>
        </p:blipFill>
        <p:spPr>
          <a:xfrm>
            <a:off x="3400425" y="1530906"/>
            <a:ext cx="3914656" cy="495062"/>
          </a:xfrm>
          <a:prstGeom prst="rect">
            <a:avLst/>
          </a:prstGeom>
        </p:spPr>
      </p:pic>
      <p:sp>
        <p:nvSpPr>
          <p:cNvPr id="5" name="Text 2"/>
          <p:cNvSpPr/>
          <p:nvPr/>
        </p:nvSpPr>
        <p:spPr>
          <a:xfrm>
            <a:off x="3524131" y="2149673"/>
            <a:ext cx="3667244" cy="464344"/>
          </a:xfrm>
          <a:prstGeom prst="rect">
            <a:avLst/>
          </a:prstGeom>
          <a:noFill/>
          <a:ln/>
        </p:spPr>
        <p:txBody>
          <a:bodyPr wrap="square" lIns="0" tIns="0" rIns="0" bIns="0" rtlCol="0" anchor="t"/>
          <a:lstStyle/>
          <a:p>
            <a:pPr algn="l" indent="0" marL="0">
              <a:lnSpc>
                <a:spcPts val="1800"/>
              </a:lnSpc>
              <a:buNone/>
            </a:pPr>
            <a:r>
              <a:rPr lang="en-US" sz="1450" b="1" dirty="0">
                <a:solidFill>
                  <a:srgbClr val="403C4E"/>
                </a:solidFill>
                <a:latin typeface="Inter Bold" pitchFamily="34" charset="0"/>
                <a:ea typeface="Inter Bold" pitchFamily="34" charset="-122"/>
                <a:cs typeface="Inter Bold" pitchFamily="34" charset="-120"/>
              </a:rPr>
              <a:t>Reduce Cancellations by Optimizing Fulfilment &amp; High-Risk Regions</a:t>
            </a:r>
            <a:endParaRPr lang="en-US" sz="1450" dirty="0"/>
          </a:p>
        </p:txBody>
      </p:sp>
      <p:sp>
        <p:nvSpPr>
          <p:cNvPr id="6" name="Text 3"/>
          <p:cNvSpPr/>
          <p:nvPr/>
        </p:nvSpPr>
        <p:spPr>
          <a:xfrm>
            <a:off x="3524131" y="2688193"/>
            <a:ext cx="3667244" cy="594360"/>
          </a:xfrm>
          <a:prstGeom prst="rect">
            <a:avLst/>
          </a:prstGeom>
          <a:noFill/>
          <a:ln/>
        </p:spPr>
        <p:txBody>
          <a:bodyPr wrap="square" lIns="0" tIns="0" rIns="0" bIns="0" rtlCol="0" anchor="t"/>
          <a:lstStyle/>
          <a:p>
            <a:pPr algn="l" marL="342900" indent="-342900">
              <a:lnSpc>
                <a:spcPts val="1550"/>
              </a:lnSpc>
              <a:buSzPct val="100000"/>
              <a:buChar char="•"/>
            </a:pPr>
            <a:r>
              <a:rPr lang="en-US" sz="950" dirty="0">
                <a:solidFill>
                  <a:srgbClr val="403C4E"/>
                </a:solidFill>
                <a:latin typeface="Inter" pitchFamily="34" charset="0"/>
                <a:ea typeface="Inter" pitchFamily="34" charset="-122"/>
                <a:cs typeface="Inter" pitchFamily="34" charset="-120"/>
              </a:rPr>
              <a:t>Focus on </a:t>
            </a:r>
            <a:pPr algn="l" indent="0" marL="0">
              <a:lnSpc>
                <a:spcPts val="1550"/>
              </a:lnSpc>
              <a:buNone/>
            </a:pPr>
            <a:r>
              <a:rPr lang="en-US" sz="950" b="1" dirty="0">
                <a:solidFill>
                  <a:srgbClr val="403C4E"/>
                </a:solidFill>
                <a:latin typeface="Inter" pitchFamily="34" charset="0"/>
                <a:ea typeface="Inter" pitchFamily="34" charset="-122"/>
                <a:cs typeface="Inter" pitchFamily="34" charset="-120"/>
              </a:rPr>
              <a:t>high-cancellation states</a:t>
            </a:r>
            <a:pPr algn="l" indent="0" marL="0">
              <a:lnSpc>
                <a:spcPts val="1550"/>
              </a:lnSpc>
              <a:buNone/>
            </a:pPr>
            <a:r>
              <a:rPr lang="en-US" sz="950" dirty="0">
                <a:solidFill>
                  <a:srgbClr val="403C4E"/>
                </a:solidFill>
                <a:latin typeface="Inter" pitchFamily="34" charset="0"/>
                <a:ea typeface="Inter" pitchFamily="34" charset="-122"/>
                <a:cs typeface="Inter" pitchFamily="34" charset="-120"/>
              </a:rPr>
              <a:t> (e.g., Lakshadweep and select North-East regions) and </a:t>
            </a:r>
            <a:pPr algn="l" indent="0" marL="0">
              <a:lnSpc>
                <a:spcPts val="1550"/>
              </a:lnSpc>
              <a:buNone/>
            </a:pPr>
            <a:r>
              <a:rPr lang="en-US" sz="950" b="1" dirty="0">
                <a:solidFill>
                  <a:srgbClr val="403C4E"/>
                </a:solidFill>
                <a:latin typeface="Inter" pitchFamily="34" charset="0"/>
                <a:ea typeface="Inter" pitchFamily="34" charset="-122"/>
                <a:cs typeface="Inter" pitchFamily="34" charset="-120"/>
              </a:rPr>
              <a:t>merchant-fulfilled orders</a:t>
            </a:r>
            <a:pPr algn="l" indent="0" marL="0">
              <a:lnSpc>
                <a:spcPts val="1550"/>
              </a:lnSpc>
              <a:buNone/>
            </a:pPr>
            <a:r>
              <a:rPr lang="en-US" sz="950" dirty="0">
                <a:solidFill>
                  <a:srgbClr val="403C4E"/>
                </a:solidFill>
                <a:latin typeface="Inter" pitchFamily="34" charset="0"/>
                <a:ea typeface="Inter" pitchFamily="34" charset="-122"/>
                <a:cs typeface="Inter" pitchFamily="34" charset="-120"/>
              </a:rPr>
              <a:t>, which show higher cancellation rates.</a:t>
            </a:r>
            <a:endParaRPr lang="en-US" sz="950" dirty="0"/>
          </a:p>
        </p:txBody>
      </p:sp>
      <p:sp>
        <p:nvSpPr>
          <p:cNvPr id="7" name="Text 4"/>
          <p:cNvSpPr/>
          <p:nvPr/>
        </p:nvSpPr>
        <p:spPr>
          <a:xfrm>
            <a:off x="3524131" y="3325773"/>
            <a:ext cx="3667244" cy="396240"/>
          </a:xfrm>
          <a:prstGeom prst="rect">
            <a:avLst/>
          </a:prstGeom>
          <a:noFill/>
          <a:ln/>
        </p:spPr>
        <p:txBody>
          <a:bodyPr wrap="square" lIns="0" tIns="0" rIns="0" bIns="0" rtlCol="0" anchor="t"/>
          <a:lstStyle/>
          <a:p>
            <a:pPr algn="l" marL="342900" indent="-342900">
              <a:lnSpc>
                <a:spcPts val="1550"/>
              </a:lnSpc>
              <a:buSzPct val="100000"/>
              <a:buChar char="•"/>
            </a:pPr>
            <a:r>
              <a:rPr lang="en-US" sz="950" dirty="0">
                <a:solidFill>
                  <a:srgbClr val="403C4E"/>
                </a:solidFill>
                <a:latin typeface="Inter" pitchFamily="34" charset="0"/>
                <a:ea typeface="Inter" pitchFamily="34" charset="-122"/>
                <a:cs typeface="Inter" pitchFamily="34" charset="-120"/>
              </a:rPr>
              <a:t>Increase </a:t>
            </a:r>
            <a:pPr algn="l" indent="0" marL="0">
              <a:lnSpc>
                <a:spcPts val="1550"/>
              </a:lnSpc>
              <a:buNone/>
            </a:pPr>
            <a:r>
              <a:rPr lang="en-US" sz="950" b="1" dirty="0">
                <a:solidFill>
                  <a:srgbClr val="403C4E"/>
                </a:solidFill>
                <a:latin typeface="Inter" pitchFamily="34" charset="0"/>
                <a:ea typeface="Inter" pitchFamily="34" charset="-122"/>
                <a:cs typeface="Inter" pitchFamily="34" charset="-120"/>
              </a:rPr>
              <a:t>Amazon-fulfilled coverage</a:t>
            </a:r>
            <a:pPr algn="l" indent="0" marL="0">
              <a:lnSpc>
                <a:spcPts val="1550"/>
              </a:lnSpc>
              <a:buNone/>
            </a:pPr>
            <a:r>
              <a:rPr lang="en-US" sz="950" dirty="0">
                <a:solidFill>
                  <a:srgbClr val="403C4E"/>
                </a:solidFill>
                <a:latin typeface="Inter" pitchFamily="34" charset="0"/>
                <a:ea typeface="Inter" pitchFamily="34" charset="-122"/>
                <a:cs typeface="Inter" pitchFamily="34" charset="-120"/>
              </a:rPr>
              <a:t> and improve last-mile logistics in remote regions.</a:t>
            </a:r>
            <a:endParaRPr lang="en-US" sz="950" dirty="0"/>
          </a:p>
        </p:txBody>
      </p:sp>
      <p:pic>
        <p:nvPicPr>
          <p:cNvPr id="8" name="Image 1" descr="preencoded.png">    </p:cNvPr>
          <p:cNvPicPr>
            <a:picLocks noChangeAspect="1"/>
          </p:cNvPicPr>
          <p:nvPr/>
        </p:nvPicPr>
        <p:blipFill>
          <a:blip r:embed="rId2"/>
          <a:stretch>
            <a:fillRect/>
          </a:stretch>
        </p:blipFill>
        <p:spPr>
          <a:xfrm>
            <a:off x="7315081" y="1530906"/>
            <a:ext cx="3914775" cy="495062"/>
          </a:xfrm>
          <a:prstGeom prst="rect">
            <a:avLst/>
          </a:prstGeom>
        </p:spPr>
      </p:pic>
      <p:sp>
        <p:nvSpPr>
          <p:cNvPr id="9" name="Text 5"/>
          <p:cNvSpPr/>
          <p:nvPr/>
        </p:nvSpPr>
        <p:spPr>
          <a:xfrm>
            <a:off x="7438787" y="2149673"/>
            <a:ext cx="3667363" cy="464344"/>
          </a:xfrm>
          <a:prstGeom prst="rect">
            <a:avLst/>
          </a:prstGeom>
          <a:noFill/>
          <a:ln/>
        </p:spPr>
        <p:txBody>
          <a:bodyPr wrap="square" lIns="0" tIns="0" rIns="0" bIns="0" rtlCol="0" anchor="t"/>
          <a:lstStyle/>
          <a:p>
            <a:pPr algn="l" indent="0" marL="0">
              <a:lnSpc>
                <a:spcPts val="1800"/>
              </a:lnSpc>
              <a:buNone/>
            </a:pPr>
            <a:r>
              <a:rPr lang="en-US" sz="1450" b="1" dirty="0">
                <a:solidFill>
                  <a:srgbClr val="403C4E"/>
                </a:solidFill>
                <a:latin typeface="Inter Bold" pitchFamily="34" charset="0"/>
                <a:ea typeface="Inter Bold" pitchFamily="34" charset="-122"/>
                <a:cs typeface="Inter Bold" pitchFamily="34" charset="-120"/>
              </a:rPr>
              <a:t>Expand and Nurture the B2B Segment for Stable Growth</a:t>
            </a:r>
            <a:endParaRPr lang="en-US" sz="1450" dirty="0"/>
          </a:p>
        </p:txBody>
      </p:sp>
      <p:sp>
        <p:nvSpPr>
          <p:cNvPr id="10" name="Text 6"/>
          <p:cNvSpPr/>
          <p:nvPr/>
        </p:nvSpPr>
        <p:spPr>
          <a:xfrm>
            <a:off x="7438787" y="2688193"/>
            <a:ext cx="3667363" cy="396240"/>
          </a:xfrm>
          <a:prstGeom prst="rect">
            <a:avLst/>
          </a:prstGeom>
          <a:noFill/>
          <a:ln/>
        </p:spPr>
        <p:txBody>
          <a:bodyPr wrap="square" lIns="0" tIns="0" rIns="0" bIns="0" rtlCol="0" anchor="t"/>
          <a:lstStyle/>
          <a:p>
            <a:pPr algn="l" marL="342900" indent="-342900">
              <a:lnSpc>
                <a:spcPts val="1550"/>
              </a:lnSpc>
              <a:buSzPct val="100000"/>
              <a:buChar char="•"/>
            </a:pPr>
            <a:r>
              <a:rPr lang="en-US" sz="950" dirty="0">
                <a:solidFill>
                  <a:srgbClr val="403C4E"/>
                </a:solidFill>
                <a:latin typeface="Inter" pitchFamily="34" charset="0"/>
                <a:ea typeface="Inter" pitchFamily="34" charset="-122"/>
                <a:cs typeface="Inter" pitchFamily="34" charset="-120"/>
              </a:rPr>
              <a:t>Although B2B contributes low volume, it has </a:t>
            </a:r>
            <a:pPr algn="l" indent="0" marL="0">
              <a:lnSpc>
                <a:spcPts val="1550"/>
              </a:lnSpc>
              <a:buNone/>
            </a:pPr>
            <a:r>
              <a:rPr lang="en-US" sz="950" b="1" dirty="0">
                <a:solidFill>
                  <a:srgbClr val="403C4E"/>
                </a:solidFill>
                <a:latin typeface="Inter" pitchFamily="34" charset="0"/>
                <a:ea typeface="Inter" pitchFamily="34" charset="-122"/>
                <a:cs typeface="Inter" pitchFamily="34" charset="-120"/>
              </a:rPr>
              <a:t>higher AOV and significantly lower cancellations</a:t>
            </a:r>
            <a:pPr algn="l" indent="0" marL="0">
              <a:lnSpc>
                <a:spcPts val="1550"/>
              </a:lnSpc>
              <a:buNone/>
            </a:pPr>
            <a:r>
              <a:rPr lang="en-US" sz="950" dirty="0">
                <a:solidFill>
                  <a:srgbClr val="403C4E"/>
                </a:solidFill>
                <a:latin typeface="Inter" pitchFamily="34" charset="0"/>
                <a:ea typeface="Inter" pitchFamily="34" charset="-122"/>
                <a:cs typeface="Inter" pitchFamily="34" charset="-120"/>
              </a:rPr>
              <a:t>.</a:t>
            </a:r>
            <a:endParaRPr lang="en-US" sz="950" dirty="0"/>
          </a:p>
        </p:txBody>
      </p:sp>
      <p:sp>
        <p:nvSpPr>
          <p:cNvPr id="11" name="Text 7"/>
          <p:cNvSpPr/>
          <p:nvPr/>
        </p:nvSpPr>
        <p:spPr>
          <a:xfrm>
            <a:off x="7438787" y="3127653"/>
            <a:ext cx="3667363" cy="396240"/>
          </a:xfrm>
          <a:prstGeom prst="rect">
            <a:avLst/>
          </a:prstGeom>
          <a:noFill/>
          <a:ln/>
        </p:spPr>
        <p:txBody>
          <a:bodyPr wrap="square" lIns="0" tIns="0" rIns="0" bIns="0" rtlCol="0" anchor="t"/>
          <a:lstStyle/>
          <a:p>
            <a:pPr algn="l" marL="342900" indent="-342900">
              <a:lnSpc>
                <a:spcPts val="1550"/>
              </a:lnSpc>
              <a:buSzPct val="100000"/>
              <a:buChar char="•"/>
            </a:pPr>
            <a:r>
              <a:rPr lang="en-US" sz="950" dirty="0">
                <a:solidFill>
                  <a:srgbClr val="403C4E"/>
                </a:solidFill>
                <a:latin typeface="Inter" pitchFamily="34" charset="0"/>
                <a:ea typeface="Inter" pitchFamily="34" charset="-122"/>
                <a:cs typeface="Inter" pitchFamily="34" charset="-120"/>
              </a:rPr>
              <a:t>Introduce </a:t>
            </a:r>
            <a:pPr algn="l" indent="0" marL="0">
              <a:lnSpc>
                <a:spcPts val="1550"/>
              </a:lnSpc>
              <a:buNone/>
            </a:pPr>
            <a:r>
              <a:rPr lang="en-US" sz="950" b="1" dirty="0">
                <a:solidFill>
                  <a:srgbClr val="403C4E"/>
                </a:solidFill>
                <a:latin typeface="Inter" pitchFamily="34" charset="0"/>
                <a:ea typeface="Inter" pitchFamily="34" charset="-122"/>
                <a:cs typeface="Inter" pitchFamily="34" charset="-120"/>
              </a:rPr>
              <a:t>bulk pricing, dedicated B2B SKUs, and account-based selling</a:t>
            </a:r>
            <a:pPr algn="l" indent="0" marL="0">
              <a:lnSpc>
                <a:spcPts val="1550"/>
              </a:lnSpc>
              <a:buNone/>
            </a:pPr>
            <a:r>
              <a:rPr lang="en-US" sz="950" dirty="0">
                <a:solidFill>
                  <a:srgbClr val="403C4E"/>
                </a:solidFill>
                <a:latin typeface="Inter" pitchFamily="34" charset="0"/>
                <a:ea typeface="Inter" pitchFamily="34" charset="-122"/>
                <a:cs typeface="Inter" pitchFamily="34" charset="-120"/>
              </a:rPr>
              <a:t>.</a:t>
            </a:r>
            <a:endParaRPr lang="en-US" sz="950" dirty="0"/>
          </a:p>
        </p:txBody>
      </p:sp>
      <p:pic>
        <p:nvPicPr>
          <p:cNvPr id="12" name="Image 2" descr="preencoded.png">    </p:cNvPr>
          <p:cNvPicPr>
            <a:picLocks noChangeAspect="1"/>
          </p:cNvPicPr>
          <p:nvPr/>
        </p:nvPicPr>
        <p:blipFill>
          <a:blip r:embed="rId3"/>
          <a:stretch>
            <a:fillRect/>
          </a:stretch>
        </p:blipFill>
        <p:spPr>
          <a:xfrm>
            <a:off x="3400425" y="3845719"/>
            <a:ext cx="3914656" cy="495062"/>
          </a:xfrm>
          <a:prstGeom prst="rect">
            <a:avLst/>
          </a:prstGeom>
        </p:spPr>
      </p:pic>
      <p:sp>
        <p:nvSpPr>
          <p:cNvPr id="13" name="Text 8"/>
          <p:cNvSpPr/>
          <p:nvPr/>
        </p:nvSpPr>
        <p:spPr>
          <a:xfrm>
            <a:off x="3524131" y="4464487"/>
            <a:ext cx="3667244" cy="464344"/>
          </a:xfrm>
          <a:prstGeom prst="rect">
            <a:avLst/>
          </a:prstGeom>
          <a:noFill/>
          <a:ln/>
        </p:spPr>
        <p:txBody>
          <a:bodyPr wrap="square" lIns="0" tIns="0" rIns="0" bIns="0" rtlCol="0" anchor="t"/>
          <a:lstStyle/>
          <a:p>
            <a:pPr algn="l" indent="0" marL="0">
              <a:lnSpc>
                <a:spcPts val="1800"/>
              </a:lnSpc>
              <a:buNone/>
            </a:pPr>
            <a:r>
              <a:rPr lang="en-US" sz="1450" b="1" dirty="0">
                <a:solidFill>
                  <a:srgbClr val="403C4E"/>
                </a:solidFill>
                <a:latin typeface="Inter Bold" pitchFamily="34" charset="0"/>
                <a:ea typeface="Inter Bold" pitchFamily="34" charset="-122"/>
                <a:cs typeface="Inter Bold" pitchFamily="34" charset="-120"/>
              </a:rPr>
              <a:t>Focus Inventory &amp; Marketing on High-Performing Products and Sizes</a:t>
            </a:r>
            <a:endParaRPr lang="en-US" sz="1450" dirty="0"/>
          </a:p>
        </p:txBody>
      </p:sp>
      <p:sp>
        <p:nvSpPr>
          <p:cNvPr id="14" name="Text 9"/>
          <p:cNvSpPr/>
          <p:nvPr/>
        </p:nvSpPr>
        <p:spPr>
          <a:xfrm>
            <a:off x="3524131" y="5003006"/>
            <a:ext cx="3667244" cy="594360"/>
          </a:xfrm>
          <a:prstGeom prst="rect">
            <a:avLst/>
          </a:prstGeom>
          <a:noFill/>
          <a:ln/>
        </p:spPr>
        <p:txBody>
          <a:bodyPr wrap="square" lIns="0" tIns="0" rIns="0" bIns="0" rtlCol="0" anchor="t"/>
          <a:lstStyle/>
          <a:p>
            <a:pPr algn="l" marL="342900" indent="-342900">
              <a:lnSpc>
                <a:spcPts val="1550"/>
              </a:lnSpc>
              <a:buSzPct val="100000"/>
              <a:buChar char="•"/>
            </a:pPr>
            <a:r>
              <a:rPr lang="en-US" sz="950" dirty="0">
                <a:solidFill>
                  <a:srgbClr val="403C4E"/>
                </a:solidFill>
                <a:latin typeface="Inter" pitchFamily="34" charset="0"/>
                <a:ea typeface="Inter" pitchFamily="34" charset="-122"/>
                <a:cs typeface="Inter" pitchFamily="34" charset="-120"/>
              </a:rPr>
              <a:t>Apparel—especially </a:t>
            </a:r>
            <a:pPr algn="l" indent="0" marL="0">
              <a:lnSpc>
                <a:spcPts val="1550"/>
              </a:lnSpc>
              <a:buNone/>
            </a:pPr>
            <a:r>
              <a:rPr lang="en-US" sz="950" b="1" dirty="0">
                <a:solidFill>
                  <a:srgbClr val="403C4E"/>
                </a:solidFill>
                <a:latin typeface="Inter" pitchFamily="34" charset="0"/>
                <a:ea typeface="Inter" pitchFamily="34" charset="-122"/>
                <a:cs typeface="Inter" pitchFamily="34" charset="-120"/>
              </a:rPr>
              <a:t>T-shirts and Shirts</a:t>
            </a:r>
            <a:pPr algn="l" indent="0" marL="0">
              <a:lnSpc>
                <a:spcPts val="1550"/>
              </a:lnSpc>
              <a:buNone/>
            </a:pPr>
            <a:r>
              <a:rPr lang="en-US" sz="950" dirty="0">
                <a:solidFill>
                  <a:srgbClr val="403C4E"/>
                </a:solidFill>
                <a:latin typeface="Inter" pitchFamily="34" charset="0"/>
                <a:ea typeface="Inter" pitchFamily="34" charset="-122"/>
                <a:cs typeface="Inter" pitchFamily="34" charset="-120"/>
              </a:rPr>
              <a:t>—drives the majority of revenue, with </a:t>
            </a:r>
            <a:pPr algn="l" indent="0" marL="0">
              <a:lnSpc>
                <a:spcPts val="1550"/>
              </a:lnSpc>
              <a:buNone/>
            </a:pPr>
            <a:r>
              <a:rPr lang="en-US" sz="950" b="1" dirty="0">
                <a:solidFill>
                  <a:srgbClr val="403C4E"/>
                </a:solidFill>
                <a:latin typeface="Inter" pitchFamily="34" charset="0"/>
                <a:ea typeface="Inter" pitchFamily="34" charset="-122"/>
                <a:cs typeface="Inter" pitchFamily="34" charset="-120"/>
              </a:rPr>
              <a:t>M, L, and XL</a:t>
            </a:r>
            <a:pPr algn="l" indent="0" marL="0">
              <a:lnSpc>
                <a:spcPts val="1550"/>
              </a:lnSpc>
              <a:buNone/>
            </a:pPr>
            <a:r>
              <a:rPr lang="en-US" sz="950" dirty="0">
                <a:solidFill>
                  <a:srgbClr val="403C4E"/>
                </a:solidFill>
                <a:latin typeface="Inter" pitchFamily="34" charset="0"/>
                <a:ea typeface="Inter" pitchFamily="34" charset="-122"/>
                <a:cs typeface="Inter" pitchFamily="34" charset="-120"/>
              </a:rPr>
              <a:t> being the most popular sizes.</a:t>
            </a:r>
            <a:endParaRPr lang="en-US" sz="950" dirty="0"/>
          </a:p>
        </p:txBody>
      </p:sp>
      <p:sp>
        <p:nvSpPr>
          <p:cNvPr id="15" name="Text 10"/>
          <p:cNvSpPr/>
          <p:nvPr/>
        </p:nvSpPr>
        <p:spPr>
          <a:xfrm>
            <a:off x="3524131" y="5640586"/>
            <a:ext cx="3667244" cy="396240"/>
          </a:xfrm>
          <a:prstGeom prst="rect">
            <a:avLst/>
          </a:prstGeom>
          <a:noFill/>
          <a:ln/>
        </p:spPr>
        <p:txBody>
          <a:bodyPr wrap="square" lIns="0" tIns="0" rIns="0" bIns="0" rtlCol="0" anchor="t"/>
          <a:lstStyle/>
          <a:p>
            <a:pPr algn="l" marL="342900" indent="-342900">
              <a:lnSpc>
                <a:spcPts val="1550"/>
              </a:lnSpc>
              <a:buSzPct val="100000"/>
              <a:buChar char="•"/>
            </a:pPr>
            <a:r>
              <a:rPr lang="en-US" sz="950" dirty="0">
                <a:solidFill>
                  <a:srgbClr val="403C4E"/>
                </a:solidFill>
                <a:latin typeface="Inter" pitchFamily="34" charset="0"/>
                <a:ea typeface="Inter" pitchFamily="34" charset="-122"/>
                <a:cs typeface="Inter" pitchFamily="34" charset="-120"/>
              </a:rPr>
              <a:t>Reduce investment in </a:t>
            </a:r>
            <a:pPr algn="l" indent="0" marL="0">
              <a:lnSpc>
                <a:spcPts val="1550"/>
              </a:lnSpc>
              <a:buNone/>
            </a:pPr>
            <a:r>
              <a:rPr lang="en-US" sz="950" b="1" dirty="0">
                <a:solidFill>
                  <a:srgbClr val="403C4E"/>
                </a:solidFill>
                <a:latin typeface="Inter" pitchFamily="34" charset="0"/>
                <a:ea typeface="Inter" pitchFamily="34" charset="-122"/>
                <a:cs typeface="Inter" pitchFamily="34" charset="-120"/>
              </a:rPr>
              <a:t>low-performing categories</a:t>
            </a:r>
            <a:pPr algn="l" indent="0" marL="0">
              <a:lnSpc>
                <a:spcPts val="1550"/>
              </a:lnSpc>
              <a:buNone/>
            </a:pPr>
            <a:r>
              <a:rPr lang="en-US" sz="950" dirty="0">
                <a:solidFill>
                  <a:srgbClr val="403C4E"/>
                </a:solidFill>
                <a:latin typeface="Inter" pitchFamily="34" charset="0"/>
                <a:ea typeface="Inter" pitchFamily="34" charset="-122"/>
                <a:cs typeface="Inter" pitchFamily="34" charset="-120"/>
              </a:rPr>
              <a:t> (Wallets, Socks, Watches).</a:t>
            </a:r>
            <a:endParaRPr lang="en-US" sz="950" dirty="0"/>
          </a:p>
        </p:txBody>
      </p:sp>
      <p:pic>
        <p:nvPicPr>
          <p:cNvPr id="16" name="Image 3" descr="preencoded.png">    </p:cNvPr>
          <p:cNvPicPr>
            <a:picLocks noChangeAspect="1"/>
          </p:cNvPicPr>
          <p:nvPr/>
        </p:nvPicPr>
        <p:blipFill>
          <a:blip r:embed="rId4"/>
          <a:stretch>
            <a:fillRect/>
          </a:stretch>
        </p:blipFill>
        <p:spPr>
          <a:xfrm>
            <a:off x="7315081" y="3845719"/>
            <a:ext cx="3914775" cy="495062"/>
          </a:xfrm>
          <a:prstGeom prst="rect">
            <a:avLst/>
          </a:prstGeom>
        </p:spPr>
      </p:pic>
      <p:sp>
        <p:nvSpPr>
          <p:cNvPr id="17" name="Text 11"/>
          <p:cNvSpPr/>
          <p:nvPr/>
        </p:nvSpPr>
        <p:spPr>
          <a:xfrm>
            <a:off x="7438787" y="4464487"/>
            <a:ext cx="3667363" cy="464344"/>
          </a:xfrm>
          <a:prstGeom prst="rect">
            <a:avLst/>
          </a:prstGeom>
          <a:noFill/>
          <a:ln/>
        </p:spPr>
        <p:txBody>
          <a:bodyPr wrap="square" lIns="0" tIns="0" rIns="0" bIns="0" rtlCol="0" anchor="t"/>
          <a:lstStyle/>
          <a:p>
            <a:pPr algn="l" indent="0" marL="0">
              <a:lnSpc>
                <a:spcPts val="1800"/>
              </a:lnSpc>
              <a:buNone/>
            </a:pPr>
            <a:r>
              <a:rPr lang="en-US" sz="1450" b="1" dirty="0">
                <a:solidFill>
                  <a:srgbClr val="403C4E"/>
                </a:solidFill>
                <a:latin typeface="Inter Bold" pitchFamily="34" charset="0"/>
                <a:ea typeface="Inter Bold" pitchFamily="34" charset="-122"/>
                <a:cs typeface="Inter Bold" pitchFamily="34" charset="-120"/>
              </a:rPr>
              <a:t>Reduce Geographic Dependency Through Market Diversification</a:t>
            </a:r>
            <a:endParaRPr lang="en-US" sz="1450" dirty="0"/>
          </a:p>
        </p:txBody>
      </p:sp>
      <p:sp>
        <p:nvSpPr>
          <p:cNvPr id="18" name="Text 12"/>
          <p:cNvSpPr/>
          <p:nvPr/>
        </p:nvSpPr>
        <p:spPr>
          <a:xfrm>
            <a:off x="7438787" y="5003006"/>
            <a:ext cx="3667363" cy="396240"/>
          </a:xfrm>
          <a:prstGeom prst="rect">
            <a:avLst/>
          </a:prstGeom>
          <a:noFill/>
          <a:ln/>
        </p:spPr>
        <p:txBody>
          <a:bodyPr wrap="square" lIns="0" tIns="0" rIns="0" bIns="0" rtlCol="0" anchor="t"/>
          <a:lstStyle/>
          <a:p>
            <a:pPr algn="l" marL="342900" indent="-342900">
              <a:lnSpc>
                <a:spcPts val="1550"/>
              </a:lnSpc>
              <a:buSzPct val="100000"/>
              <a:buChar char="•"/>
            </a:pPr>
            <a:r>
              <a:rPr lang="en-US" sz="950" dirty="0">
                <a:solidFill>
                  <a:srgbClr val="403C4E"/>
                </a:solidFill>
                <a:latin typeface="Inter" pitchFamily="34" charset="0"/>
                <a:ea typeface="Inter" pitchFamily="34" charset="-122"/>
                <a:cs typeface="Inter" pitchFamily="34" charset="-120"/>
              </a:rPr>
              <a:t>Over </a:t>
            </a:r>
            <a:pPr algn="l" indent="0" marL="0">
              <a:lnSpc>
                <a:spcPts val="1550"/>
              </a:lnSpc>
              <a:buNone/>
            </a:pPr>
            <a:r>
              <a:rPr lang="en-US" sz="950" b="1" dirty="0">
                <a:solidFill>
                  <a:srgbClr val="403C4E"/>
                </a:solidFill>
                <a:latin typeface="Inter" pitchFamily="34" charset="0"/>
                <a:ea typeface="Inter" pitchFamily="34" charset="-122"/>
                <a:cs typeface="Inter" pitchFamily="34" charset="-120"/>
              </a:rPr>
              <a:t>56% of revenue comes from the top 5 states</a:t>
            </a:r>
            <a:pPr algn="l" indent="0" marL="0">
              <a:lnSpc>
                <a:spcPts val="1550"/>
              </a:lnSpc>
              <a:buNone/>
            </a:pPr>
            <a:r>
              <a:rPr lang="en-US" sz="950" dirty="0">
                <a:solidFill>
                  <a:srgbClr val="403C4E"/>
                </a:solidFill>
                <a:latin typeface="Inter" pitchFamily="34" charset="0"/>
                <a:ea typeface="Inter" pitchFamily="34" charset="-122"/>
                <a:cs typeface="Inter" pitchFamily="34" charset="-120"/>
              </a:rPr>
              <a:t>, increasing business risk.</a:t>
            </a:r>
            <a:endParaRPr lang="en-US" sz="950" dirty="0"/>
          </a:p>
        </p:txBody>
      </p:sp>
      <p:sp>
        <p:nvSpPr>
          <p:cNvPr id="19" name="Text 13"/>
          <p:cNvSpPr/>
          <p:nvPr/>
        </p:nvSpPr>
        <p:spPr>
          <a:xfrm>
            <a:off x="7438787" y="5442466"/>
            <a:ext cx="3667363" cy="396240"/>
          </a:xfrm>
          <a:prstGeom prst="rect">
            <a:avLst/>
          </a:prstGeom>
          <a:noFill/>
          <a:ln/>
        </p:spPr>
        <p:txBody>
          <a:bodyPr wrap="square" lIns="0" tIns="0" rIns="0" bIns="0" rtlCol="0" anchor="t"/>
          <a:lstStyle/>
          <a:p>
            <a:pPr algn="l" marL="342900" indent="-342900">
              <a:lnSpc>
                <a:spcPts val="1550"/>
              </a:lnSpc>
              <a:buSzPct val="100000"/>
              <a:buChar char="•"/>
            </a:pPr>
            <a:r>
              <a:rPr lang="en-US" sz="950" dirty="0">
                <a:solidFill>
                  <a:srgbClr val="403C4E"/>
                </a:solidFill>
                <a:latin typeface="Inter" pitchFamily="34" charset="0"/>
                <a:ea typeface="Inter" pitchFamily="34" charset="-122"/>
                <a:cs typeface="Inter" pitchFamily="34" charset="-120"/>
              </a:rPr>
              <a:t>Use </a:t>
            </a:r>
            <a:pPr algn="l" indent="0" marL="0">
              <a:lnSpc>
                <a:spcPts val="1550"/>
              </a:lnSpc>
              <a:buNone/>
            </a:pPr>
            <a:r>
              <a:rPr lang="en-US" sz="950" b="1" dirty="0">
                <a:solidFill>
                  <a:srgbClr val="403C4E"/>
                </a:solidFill>
                <a:latin typeface="Inter" pitchFamily="34" charset="0"/>
                <a:ea typeface="Inter" pitchFamily="34" charset="-122"/>
                <a:cs typeface="Inter" pitchFamily="34" charset="-120"/>
              </a:rPr>
              <a:t>targeted promotions and faster fulfilment options</a:t>
            </a:r>
            <a:pPr algn="l" indent="0" marL="0">
              <a:lnSpc>
                <a:spcPts val="1550"/>
              </a:lnSpc>
              <a:buNone/>
            </a:pPr>
            <a:r>
              <a:rPr lang="en-US" sz="950" dirty="0">
                <a:solidFill>
                  <a:srgbClr val="403C4E"/>
                </a:solidFill>
                <a:latin typeface="Inter" pitchFamily="34" charset="0"/>
                <a:ea typeface="Inter" pitchFamily="34" charset="-122"/>
                <a:cs typeface="Inter" pitchFamily="34" charset="-120"/>
              </a:rPr>
              <a:t> to grow Tier-2 and Tier-3 markets.</a:t>
            </a:r>
            <a:endParaRPr lang="en-US" sz="950" dirty="0"/>
          </a:p>
        </p:txBody>
      </p:sp>
      <p:sp>
        <p:nvSpPr>
          <p:cNvPr id="20" name="Shape 14"/>
          <p:cNvSpPr/>
          <p:nvPr/>
        </p:nvSpPr>
        <p:spPr>
          <a:xfrm>
            <a:off x="3400425" y="6299716"/>
            <a:ext cx="7829431" cy="1491139"/>
          </a:xfrm>
          <a:prstGeom prst="roundRect">
            <a:avLst>
              <a:gd name="adj" fmla="val 613"/>
            </a:avLst>
          </a:prstGeom>
          <a:solidFill>
            <a:srgbClr val="FFC4B3"/>
          </a:solidFill>
          <a:ln/>
        </p:spPr>
      </p:sp>
      <p:pic>
        <p:nvPicPr>
          <p:cNvPr id="21" name="Image 4" descr="preencoded.png">    </p:cNvPr>
          <p:cNvPicPr>
            <a:picLocks noChangeAspect="1"/>
          </p:cNvPicPr>
          <p:nvPr/>
        </p:nvPicPr>
        <p:blipFill>
          <a:blip r:embed="rId5"/>
          <a:stretch>
            <a:fillRect/>
          </a:stretch>
        </p:blipFill>
        <p:spPr>
          <a:xfrm>
            <a:off x="3524131" y="6490692"/>
            <a:ext cx="154662" cy="123706"/>
          </a:xfrm>
          <a:prstGeom prst="rect">
            <a:avLst/>
          </a:prstGeom>
        </p:spPr>
      </p:pic>
      <p:sp>
        <p:nvSpPr>
          <p:cNvPr id="22" name="Text 15"/>
          <p:cNvSpPr/>
          <p:nvPr/>
        </p:nvSpPr>
        <p:spPr>
          <a:xfrm>
            <a:off x="3802499" y="6454259"/>
            <a:ext cx="7303651" cy="198120"/>
          </a:xfrm>
          <a:prstGeom prst="rect">
            <a:avLst/>
          </a:prstGeom>
          <a:noFill/>
          <a:ln/>
        </p:spPr>
        <p:txBody>
          <a:bodyPr wrap="none" lIns="0" tIns="0" rIns="0" bIns="0" rtlCol="0" anchor="t"/>
          <a:lstStyle/>
          <a:p>
            <a:pPr algn="l" indent="0" marL="0">
              <a:lnSpc>
                <a:spcPts val="1550"/>
              </a:lnSpc>
              <a:buNone/>
            </a:pPr>
            <a:r>
              <a:rPr lang="en-US" sz="950" b="1" dirty="0">
                <a:solidFill>
                  <a:srgbClr val="000000"/>
                </a:solidFill>
                <a:latin typeface="Inter" pitchFamily="34" charset="0"/>
                <a:ea typeface="Inter" pitchFamily="34" charset="-122"/>
                <a:cs typeface="Inter" pitchFamily="34" charset="-120"/>
              </a:rPr>
              <a:t>Implementation Priority:</a:t>
            </a:r>
            <a:endParaRPr lang="en-US" sz="950" dirty="0"/>
          </a:p>
        </p:txBody>
      </p:sp>
      <p:sp>
        <p:nvSpPr>
          <p:cNvPr id="23" name="Text 16"/>
          <p:cNvSpPr/>
          <p:nvPr/>
        </p:nvSpPr>
        <p:spPr>
          <a:xfrm>
            <a:off x="3802499" y="6763703"/>
            <a:ext cx="7303651" cy="198120"/>
          </a:xfrm>
          <a:prstGeom prst="rect">
            <a:avLst/>
          </a:prstGeom>
          <a:noFill/>
          <a:ln/>
        </p:spPr>
        <p:txBody>
          <a:bodyPr wrap="none" lIns="0" tIns="0" rIns="0" bIns="0" rtlCol="0" anchor="t"/>
          <a:lstStyle/>
          <a:p>
            <a:pPr algn="l" marL="342900" indent="-342900">
              <a:lnSpc>
                <a:spcPts val="1550"/>
              </a:lnSpc>
              <a:buSzPct val="100000"/>
              <a:buChar char="•"/>
            </a:pPr>
            <a:r>
              <a:rPr lang="en-US" sz="950" dirty="0">
                <a:solidFill>
                  <a:srgbClr val="000000"/>
                </a:solidFill>
                <a:latin typeface="Inter" pitchFamily="34" charset="0"/>
                <a:ea typeface="Inter" pitchFamily="34" charset="-122"/>
                <a:cs typeface="Inter" pitchFamily="34" charset="-120"/>
              </a:rPr>
              <a:t>Direct revenue recovery without increasing marketing spend.</a:t>
            </a:r>
            <a:endParaRPr lang="en-US" sz="950" dirty="0"/>
          </a:p>
        </p:txBody>
      </p:sp>
      <p:sp>
        <p:nvSpPr>
          <p:cNvPr id="24" name="Text 17"/>
          <p:cNvSpPr/>
          <p:nvPr/>
        </p:nvSpPr>
        <p:spPr>
          <a:xfrm>
            <a:off x="3802499" y="7005042"/>
            <a:ext cx="7303651" cy="198120"/>
          </a:xfrm>
          <a:prstGeom prst="rect">
            <a:avLst/>
          </a:prstGeom>
          <a:noFill/>
          <a:ln/>
        </p:spPr>
        <p:txBody>
          <a:bodyPr wrap="none" lIns="0" tIns="0" rIns="0" bIns="0" rtlCol="0" anchor="t"/>
          <a:lstStyle/>
          <a:p>
            <a:pPr algn="l" marL="342900" indent="-342900">
              <a:lnSpc>
                <a:spcPts val="1550"/>
              </a:lnSpc>
              <a:buSzPct val="100000"/>
              <a:buChar char="•"/>
            </a:pPr>
            <a:r>
              <a:rPr lang="en-US" sz="950" dirty="0">
                <a:solidFill>
                  <a:srgbClr val="000000"/>
                </a:solidFill>
                <a:latin typeface="Inter" pitchFamily="34" charset="0"/>
                <a:ea typeface="Inter" pitchFamily="34" charset="-122"/>
                <a:cs typeface="Inter" pitchFamily="34" charset="-120"/>
              </a:rPr>
              <a:t>Improves profitability, demand predictability, and reduces volatility.</a:t>
            </a:r>
            <a:endParaRPr lang="en-US" sz="950" dirty="0"/>
          </a:p>
        </p:txBody>
      </p:sp>
      <p:sp>
        <p:nvSpPr>
          <p:cNvPr id="25" name="Text 18"/>
          <p:cNvSpPr/>
          <p:nvPr/>
        </p:nvSpPr>
        <p:spPr>
          <a:xfrm>
            <a:off x="3802499" y="7246382"/>
            <a:ext cx="7303651" cy="198120"/>
          </a:xfrm>
          <a:prstGeom prst="rect">
            <a:avLst/>
          </a:prstGeom>
          <a:noFill/>
          <a:ln/>
        </p:spPr>
        <p:txBody>
          <a:bodyPr wrap="none" lIns="0" tIns="0" rIns="0" bIns="0" rtlCol="0" anchor="t"/>
          <a:lstStyle/>
          <a:p>
            <a:pPr algn="l" marL="342900" indent="-342900">
              <a:lnSpc>
                <a:spcPts val="1550"/>
              </a:lnSpc>
              <a:buSzPct val="100000"/>
              <a:buChar char="•"/>
            </a:pPr>
            <a:r>
              <a:rPr lang="en-US" sz="950" dirty="0">
                <a:solidFill>
                  <a:srgbClr val="000000"/>
                </a:solidFill>
                <a:latin typeface="Inter" pitchFamily="34" charset="0"/>
                <a:ea typeface="Inter" pitchFamily="34" charset="-122"/>
                <a:cs typeface="Inter" pitchFamily="34" charset="-120"/>
              </a:rPr>
              <a:t>Better inventory turnover, lower holding costs, and higher ROI.</a:t>
            </a:r>
            <a:endParaRPr lang="en-US" sz="950" dirty="0"/>
          </a:p>
        </p:txBody>
      </p:sp>
      <p:sp>
        <p:nvSpPr>
          <p:cNvPr id="26" name="Text 19"/>
          <p:cNvSpPr/>
          <p:nvPr/>
        </p:nvSpPr>
        <p:spPr>
          <a:xfrm>
            <a:off x="3802499" y="7487722"/>
            <a:ext cx="7303651" cy="198120"/>
          </a:xfrm>
          <a:prstGeom prst="rect">
            <a:avLst/>
          </a:prstGeom>
          <a:noFill/>
          <a:ln/>
        </p:spPr>
        <p:txBody>
          <a:bodyPr wrap="none" lIns="0" tIns="0" rIns="0" bIns="0" rtlCol="0" anchor="t"/>
          <a:lstStyle/>
          <a:p>
            <a:pPr algn="l" marL="342900" indent="-342900">
              <a:lnSpc>
                <a:spcPts val="1550"/>
              </a:lnSpc>
              <a:buSzPct val="100000"/>
              <a:buChar char="•"/>
            </a:pPr>
            <a:r>
              <a:rPr lang="en-US" sz="950" dirty="0">
                <a:solidFill>
                  <a:srgbClr val="000000"/>
                </a:solidFill>
                <a:latin typeface="Inter" pitchFamily="34" charset="0"/>
                <a:ea typeface="Inter" pitchFamily="34" charset="-122"/>
                <a:cs typeface="Inter" pitchFamily="34" charset="-120"/>
              </a:rPr>
              <a:t> More resilient revenue base and long-term scalability.</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243608" y="683776"/>
            <a:ext cx="5473065" cy="479941"/>
          </a:xfrm>
          <a:prstGeom prst="rect">
            <a:avLst/>
          </a:prstGeom>
          <a:noFill/>
          <a:ln/>
        </p:spPr>
        <p:txBody>
          <a:bodyPr wrap="none" lIns="0" tIns="0" rIns="0" bIns="0" rtlCol="0" anchor="t"/>
          <a:lstStyle/>
          <a:p>
            <a:pPr algn="l" indent="0" marL="0">
              <a:lnSpc>
                <a:spcPts val="3750"/>
              </a:lnSpc>
              <a:buNone/>
            </a:pPr>
            <a:r>
              <a:rPr lang="en-US" sz="3000" b="1" dirty="0">
                <a:solidFill>
                  <a:srgbClr val="403C4E"/>
                </a:solidFill>
                <a:latin typeface="Inter Bold" pitchFamily="34" charset="0"/>
                <a:ea typeface="Inter Bold" pitchFamily="34" charset="-122"/>
                <a:cs typeface="Inter Bold" pitchFamily="34" charset="-120"/>
              </a:rPr>
              <a:t>Conclusion &amp; Key Takeaways</a:t>
            </a:r>
            <a:endParaRPr lang="en-US" sz="3000" dirty="0"/>
          </a:p>
        </p:txBody>
      </p:sp>
      <p:sp>
        <p:nvSpPr>
          <p:cNvPr id="3" name="Text 1"/>
          <p:cNvSpPr/>
          <p:nvPr/>
        </p:nvSpPr>
        <p:spPr>
          <a:xfrm>
            <a:off x="1243608" y="1547574"/>
            <a:ext cx="12143065" cy="1228249"/>
          </a:xfrm>
          <a:prstGeom prst="rect">
            <a:avLst/>
          </a:prstGeom>
          <a:noFill/>
          <a:ln/>
        </p:spPr>
        <p:txBody>
          <a:bodyPr wrap="square" lIns="0" tIns="0" rIns="0" bIns="0" rtlCol="0" anchor="t"/>
          <a:lstStyle/>
          <a:p>
            <a:pPr algn="l" indent="0" marL="0">
              <a:lnSpc>
                <a:spcPts val="2400"/>
              </a:lnSpc>
              <a:buNone/>
            </a:pPr>
            <a:r>
              <a:rPr lang="en-US" sz="1500" dirty="0">
                <a:solidFill>
                  <a:srgbClr val="403C4E"/>
                </a:solidFill>
                <a:latin typeface="Inter" pitchFamily="34" charset="0"/>
                <a:ea typeface="Inter" pitchFamily="34" charset="-122"/>
                <a:cs typeface="Inter" pitchFamily="34" charset="-120"/>
              </a:rPr>
              <a:t>Overall, the analysis shows that the business is </a:t>
            </a:r>
            <a:pPr algn="l" indent="0" marL="0">
              <a:lnSpc>
                <a:spcPts val="2400"/>
              </a:lnSpc>
              <a:buNone/>
            </a:pPr>
            <a:r>
              <a:rPr lang="en-US" sz="1500" b="1" dirty="0">
                <a:solidFill>
                  <a:srgbClr val="403C4E"/>
                </a:solidFill>
                <a:latin typeface="Inter" pitchFamily="34" charset="0"/>
                <a:ea typeface="Inter" pitchFamily="34" charset="-122"/>
                <a:cs typeface="Inter" pitchFamily="34" charset="-120"/>
              </a:rPr>
              <a:t>strongly driven by B2C demand in metro and top-tier states</a:t>
            </a:r>
            <a:pPr algn="l" indent="0" marL="0">
              <a:lnSpc>
                <a:spcPts val="2400"/>
              </a:lnSpc>
              <a:buNone/>
            </a:pPr>
            <a:r>
              <a:rPr lang="en-US" sz="1500" dirty="0">
                <a:solidFill>
                  <a:srgbClr val="403C4E"/>
                </a:solidFill>
                <a:latin typeface="Inter" pitchFamily="34" charset="0"/>
                <a:ea typeface="Inter" pitchFamily="34" charset="-122"/>
                <a:cs typeface="Inter" pitchFamily="34" charset="-120"/>
              </a:rPr>
              <a:t>, with apparel—especially T-shirts—being the primary revenue contributor. While sales performance is healthy, </a:t>
            </a:r>
            <a:pPr algn="l" indent="0" marL="0">
              <a:lnSpc>
                <a:spcPts val="2400"/>
              </a:lnSpc>
              <a:buNone/>
            </a:pPr>
            <a:r>
              <a:rPr lang="en-US" sz="1500" b="1" dirty="0">
                <a:solidFill>
                  <a:srgbClr val="403C4E"/>
                </a:solidFill>
                <a:latin typeface="Inter" pitchFamily="34" charset="0"/>
                <a:ea typeface="Inter" pitchFamily="34" charset="-122"/>
                <a:cs typeface="Inter" pitchFamily="34" charset="-120"/>
              </a:rPr>
              <a:t>high cancellation rates, geographic concentration, and underutilization of the B2B segment</a:t>
            </a:r>
            <a:pPr algn="l" indent="0" marL="0">
              <a:lnSpc>
                <a:spcPts val="2400"/>
              </a:lnSpc>
              <a:buNone/>
            </a:pPr>
            <a:r>
              <a:rPr lang="en-US" sz="1500" dirty="0">
                <a:solidFill>
                  <a:srgbClr val="403C4E"/>
                </a:solidFill>
                <a:latin typeface="Inter" pitchFamily="34" charset="0"/>
                <a:ea typeface="Inter" pitchFamily="34" charset="-122"/>
                <a:cs typeface="Inter" pitchFamily="34" charset="-120"/>
              </a:rPr>
              <a:t> limit profitability and scalability. Addressing operational inefficiencies and rebalancing growth levers can significantly improve long-term performance.</a:t>
            </a:r>
            <a:endParaRPr lang="en-US" sz="1500" dirty="0"/>
          </a:p>
        </p:txBody>
      </p:sp>
      <p:sp>
        <p:nvSpPr>
          <p:cNvPr id="4" name="Shape 2"/>
          <p:cNvSpPr/>
          <p:nvPr/>
        </p:nvSpPr>
        <p:spPr>
          <a:xfrm>
            <a:off x="1243608" y="2991803"/>
            <a:ext cx="5975509" cy="1765935"/>
          </a:xfrm>
          <a:prstGeom prst="roundRect">
            <a:avLst>
              <a:gd name="adj" fmla="val 6214"/>
            </a:avLst>
          </a:prstGeom>
          <a:solidFill>
            <a:srgbClr val="FFFFFF"/>
          </a:solidFill>
          <a:ln w="22860">
            <a:solidFill>
              <a:srgbClr val="D8D4D4"/>
            </a:solidFill>
            <a:prstDash val="solid"/>
          </a:ln>
        </p:spPr>
      </p:sp>
      <p:sp>
        <p:nvSpPr>
          <p:cNvPr id="5" name="Shape 3"/>
          <p:cNvSpPr/>
          <p:nvPr/>
        </p:nvSpPr>
        <p:spPr>
          <a:xfrm>
            <a:off x="1220748" y="2991803"/>
            <a:ext cx="91440" cy="1765935"/>
          </a:xfrm>
          <a:prstGeom prst="roundRect">
            <a:avLst>
              <a:gd name="adj" fmla="val 10000"/>
            </a:avLst>
          </a:prstGeom>
          <a:solidFill>
            <a:srgbClr val="FFAD94"/>
          </a:solidFill>
          <a:ln/>
        </p:spPr>
      </p:sp>
      <p:sp>
        <p:nvSpPr>
          <p:cNvPr id="6" name="Text 4"/>
          <p:cNvSpPr/>
          <p:nvPr/>
        </p:nvSpPr>
        <p:spPr>
          <a:xfrm>
            <a:off x="1526977" y="3206591"/>
            <a:ext cx="4310896" cy="300038"/>
          </a:xfrm>
          <a:prstGeom prst="rect">
            <a:avLst/>
          </a:prstGeom>
          <a:noFill/>
          <a:ln/>
        </p:spPr>
        <p:txBody>
          <a:bodyPr wrap="none" lIns="0" tIns="0" rIns="0" bIns="0" rtlCol="0" anchor="t"/>
          <a:lstStyle/>
          <a:p>
            <a:pPr algn="l" indent="0" marL="0">
              <a:lnSpc>
                <a:spcPts val="2350"/>
              </a:lnSpc>
              <a:buNone/>
            </a:pPr>
            <a:r>
              <a:rPr lang="en-US" sz="1850" b="1" dirty="0">
                <a:solidFill>
                  <a:srgbClr val="403C4E"/>
                </a:solidFill>
                <a:latin typeface="Inter Bold" pitchFamily="34" charset="0"/>
                <a:ea typeface="Inter Bold" pitchFamily="34" charset="-122"/>
                <a:cs typeface="Inter Bold" pitchFamily="34" charset="-120"/>
              </a:rPr>
              <a:t>B2C Drives Scale, B2B Drives Quality</a:t>
            </a:r>
            <a:endParaRPr lang="en-US" sz="1850" dirty="0"/>
          </a:p>
        </p:txBody>
      </p:sp>
      <p:sp>
        <p:nvSpPr>
          <p:cNvPr id="7" name="Text 5"/>
          <p:cNvSpPr/>
          <p:nvPr/>
        </p:nvSpPr>
        <p:spPr>
          <a:xfrm>
            <a:off x="1526977" y="3621762"/>
            <a:ext cx="5477351" cy="921187"/>
          </a:xfrm>
          <a:prstGeom prst="rect">
            <a:avLst/>
          </a:prstGeom>
          <a:noFill/>
          <a:ln/>
        </p:spPr>
        <p:txBody>
          <a:bodyPr wrap="square" lIns="0" tIns="0" rIns="0" bIns="0" rtlCol="0" anchor="t"/>
          <a:lstStyle/>
          <a:p>
            <a:pPr algn="l" indent="0" marL="0">
              <a:lnSpc>
                <a:spcPts val="2400"/>
              </a:lnSpc>
              <a:buNone/>
            </a:pPr>
            <a:r>
              <a:rPr lang="en-US" sz="1500" dirty="0">
                <a:solidFill>
                  <a:srgbClr val="403C4E"/>
                </a:solidFill>
                <a:latin typeface="Inter" pitchFamily="34" charset="0"/>
                <a:ea typeface="Inter" pitchFamily="34" charset="-122"/>
                <a:cs typeface="Inter" pitchFamily="34" charset="-120"/>
              </a:rPr>
              <a:t>B2C contributes most orders and revenue, while B2B offers higher AOV and lower cancellations, making it a strong growth opportunity.</a:t>
            </a:r>
            <a:endParaRPr lang="en-US" sz="1500" dirty="0"/>
          </a:p>
        </p:txBody>
      </p:sp>
      <p:sp>
        <p:nvSpPr>
          <p:cNvPr id="8" name="Shape 6"/>
          <p:cNvSpPr/>
          <p:nvPr/>
        </p:nvSpPr>
        <p:spPr>
          <a:xfrm>
            <a:off x="7411045" y="2991803"/>
            <a:ext cx="5975628" cy="1765935"/>
          </a:xfrm>
          <a:prstGeom prst="roundRect">
            <a:avLst>
              <a:gd name="adj" fmla="val 6214"/>
            </a:avLst>
          </a:prstGeom>
          <a:solidFill>
            <a:srgbClr val="FFFFFF"/>
          </a:solidFill>
          <a:ln w="22860">
            <a:solidFill>
              <a:srgbClr val="D8D4D4"/>
            </a:solidFill>
            <a:prstDash val="solid"/>
          </a:ln>
        </p:spPr>
      </p:sp>
      <p:sp>
        <p:nvSpPr>
          <p:cNvPr id="9" name="Shape 7"/>
          <p:cNvSpPr/>
          <p:nvPr/>
        </p:nvSpPr>
        <p:spPr>
          <a:xfrm>
            <a:off x="7388185" y="2991803"/>
            <a:ext cx="91440" cy="1765935"/>
          </a:xfrm>
          <a:prstGeom prst="roundRect">
            <a:avLst>
              <a:gd name="adj" fmla="val 10000"/>
            </a:avLst>
          </a:prstGeom>
          <a:solidFill>
            <a:srgbClr val="FFAD94"/>
          </a:solidFill>
          <a:ln/>
        </p:spPr>
      </p:sp>
      <p:sp>
        <p:nvSpPr>
          <p:cNvPr id="10" name="Text 8"/>
          <p:cNvSpPr/>
          <p:nvPr/>
        </p:nvSpPr>
        <p:spPr>
          <a:xfrm>
            <a:off x="7694414" y="3206591"/>
            <a:ext cx="4778812" cy="300038"/>
          </a:xfrm>
          <a:prstGeom prst="rect">
            <a:avLst/>
          </a:prstGeom>
          <a:noFill/>
          <a:ln/>
        </p:spPr>
        <p:txBody>
          <a:bodyPr wrap="none" lIns="0" tIns="0" rIns="0" bIns="0" rtlCol="0" anchor="t"/>
          <a:lstStyle/>
          <a:p>
            <a:pPr algn="l" indent="0" marL="0">
              <a:lnSpc>
                <a:spcPts val="2350"/>
              </a:lnSpc>
              <a:buNone/>
            </a:pPr>
            <a:r>
              <a:rPr lang="en-US" sz="1850" b="1" dirty="0">
                <a:solidFill>
                  <a:srgbClr val="403C4E"/>
                </a:solidFill>
                <a:latin typeface="Inter Bold" pitchFamily="34" charset="0"/>
                <a:ea typeface="Inter Bold" pitchFamily="34" charset="-122"/>
                <a:cs typeface="Inter Bold" pitchFamily="34" charset="-120"/>
              </a:rPr>
              <a:t>Revenue Is Geographically Concentrated</a:t>
            </a:r>
            <a:endParaRPr lang="en-US" sz="1850" dirty="0"/>
          </a:p>
        </p:txBody>
      </p:sp>
      <p:sp>
        <p:nvSpPr>
          <p:cNvPr id="11" name="Text 9"/>
          <p:cNvSpPr/>
          <p:nvPr/>
        </p:nvSpPr>
        <p:spPr>
          <a:xfrm>
            <a:off x="7694414" y="3621762"/>
            <a:ext cx="5477470" cy="921187"/>
          </a:xfrm>
          <a:prstGeom prst="rect">
            <a:avLst/>
          </a:prstGeom>
          <a:noFill/>
          <a:ln/>
        </p:spPr>
        <p:txBody>
          <a:bodyPr wrap="square" lIns="0" tIns="0" rIns="0" bIns="0" rtlCol="0" anchor="t"/>
          <a:lstStyle/>
          <a:p>
            <a:pPr algn="l" indent="0" marL="0">
              <a:lnSpc>
                <a:spcPts val="2400"/>
              </a:lnSpc>
              <a:buNone/>
            </a:pPr>
            <a:r>
              <a:rPr lang="en-US" sz="1500" dirty="0">
                <a:solidFill>
                  <a:srgbClr val="403C4E"/>
                </a:solidFill>
                <a:latin typeface="Inter" pitchFamily="34" charset="0"/>
                <a:ea typeface="Inter" pitchFamily="34" charset="-122"/>
                <a:cs typeface="Inter" pitchFamily="34" charset="-120"/>
              </a:rPr>
              <a:t>Over half of the revenue comes from the top five states, increasing dependency risk and highlighting the need for regional diversification.</a:t>
            </a:r>
            <a:endParaRPr lang="en-US" sz="1500" dirty="0"/>
          </a:p>
        </p:txBody>
      </p:sp>
      <p:sp>
        <p:nvSpPr>
          <p:cNvPr id="12" name="Shape 10"/>
          <p:cNvSpPr/>
          <p:nvPr/>
        </p:nvSpPr>
        <p:spPr>
          <a:xfrm>
            <a:off x="1243608" y="4949666"/>
            <a:ext cx="5975509" cy="1765935"/>
          </a:xfrm>
          <a:prstGeom prst="roundRect">
            <a:avLst>
              <a:gd name="adj" fmla="val 6214"/>
            </a:avLst>
          </a:prstGeom>
          <a:solidFill>
            <a:srgbClr val="FFFFFF"/>
          </a:solidFill>
          <a:ln w="22860">
            <a:solidFill>
              <a:srgbClr val="D8D4D4"/>
            </a:solidFill>
            <a:prstDash val="solid"/>
          </a:ln>
        </p:spPr>
      </p:sp>
      <p:sp>
        <p:nvSpPr>
          <p:cNvPr id="13" name="Shape 11"/>
          <p:cNvSpPr/>
          <p:nvPr/>
        </p:nvSpPr>
        <p:spPr>
          <a:xfrm>
            <a:off x="1220748" y="4949666"/>
            <a:ext cx="91440" cy="1765935"/>
          </a:xfrm>
          <a:prstGeom prst="roundRect">
            <a:avLst>
              <a:gd name="adj" fmla="val 10000"/>
            </a:avLst>
          </a:prstGeom>
          <a:solidFill>
            <a:srgbClr val="FFAD94"/>
          </a:solidFill>
          <a:ln/>
        </p:spPr>
      </p:sp>
      <p:sp>
        <p:nvSpPr>
          <p:cNvPr id="14" name="Text 12"/>
          <p:cNvSpPr/>
          <p:nvPr/>
        </p:nvSpPr>
        <p:spPr>
          <a:xfrm>
            <a:off x="1526977" y="5164455"/>
            <a:ext cx="5123617" cy="300038"/>
          </a:xfrm>
          <a:prstGeom prst="rect">
            <a:avLst/>
          </a:prstGeom>
          <a:noFill/>
          <a:ln/>
        </p:spPr>
        <p:txBody>
          <a:bodyPr wrap="none" lIns="0" tIns="0" rIns="0" bIns="0" rtlCol="0" anchor="t"/>
          <a:lstStyle/>
          <a:p>
            <a:pPr algn="l" indent="0" marL="0">
              <a:lnSpc>
                <a:spcPts val="2350"/>
              </a:lnSpc>
              <a:buNone/>
            </a:pPr>
            <a:r>
              <a:rPr lang="en-US" sz="1850" b="1" dirty="0">
                <a:solidFill>
                  <a:srgbClr val="403C4E"/>
                </a:solidFill>
                <a:latin typeface="Inter Bold" pitchFamily="34" charset="0"/>
                <a:ea typeface="Inter Bold" pitchFamily="34" charset="-122"/>
                <a:cs typeface="Inter Bold" pitchFamily="34" charset="-120"/>
              </a:rPr>
              <a:t>Cancellations Are a Major Revenue Leakage</a:t>
            </a:r>
            <a:endParaRPr lang="en-US" sz="1850" dirty="0"/>
          </a:p>
        </p:txBody>
      </p:sp>
      <p:sp>
        <p:nvSpPr>
          <p:cNvPr id="15" name="Text 13"/>
          <p:cNvSpPr/>
          <p:nvPr/>
        </p:nvSpPr>
        <p:spPr>
          <a:xfrm>
            <a:off x="1526977" y="5579626"/>
            <a:ext cx="5477351" cy="921187"/>
          </a:xfrm>
          <a:prstGeom prst="rect">
            <a:avLst/>
          </a:prstGeom>
          <a:noFill/>
          <a:ln/>
        </p:spPr>
        <p:txBody>
          <a:bodyPr wrap="square" lIns="0" tIns="0" rIns="0" bIns="0" rtlCol="0" anchor="t"/>
          <a:lstStyle/>
          <a:p>
            <a:pPr algn="l" indent="0" marL="0">
              <a:lnSpc>
                <a:spcPts val="2400"/>
              </a:lnSpc>
              <a:buNone/>
            </a:pPr>
            <a:r>
              <a:rPr lang="en-US" sz="1500" dirty="0">
                <a:solidFill>
                  <a:srgbClr val="403C4E"/>
                </a:solidFill>
                <a:latin typeface="Inter" pitchFamily="34" charset="0"/>
                <a:ea typeface="Inter" pitchFamily="34" charset="-122"/>
                <a:cs typeface="Inter" pitchFamily="34" charset="-120"/>
              </a:rPr>
              <a:t>Higher cancellations in certain states and merchant fulfilment reduce net revenue and must be addressed operationally.</a:t>
            </a:r>
            <a:endParaRPr lang="en-US" sz="1500" dirty="0"/>
          </a:p>
        </p:txBody>
      </p:sp>
      <p:sp>
        <p:nvSpPr>
          <p:cNvPr id="16" name="Shape 14"/>
          <p:cNvSpPr/>
          <p:nvPr/>
        </p:nvSpPr>
        <p:spPr>
          <a:xfrm>
            <a:off x="7411045" y="4949666"/>
            <a:ext cx="5975628" cy="1765935"/>
          </a:xfrm>
          <a:prstGeom prst="roundRect">
            <a:avLst>
              <a:gd name="adj" fmla="val 6214"/>
            </a:avLst>
          </a:prstGeom>
          <a:solidFill>
            <a:srgbClr val="FFFFFF"/>
          </a:solidFill>
          <a:ln w="22860">
            <a:solidFill>
              <a:srgbClr val="D8D4D4"/>
            </a:solidFill>
            <a:prstDash val="solid"/>
          </a:ln>
        </p:spPr>
      </p:sp>
      <p:sp>
        <p:nvSpPr>
          <p:cNvPr id="17" name="Shape 15"/>
          <p:cNvSpPr/>
          <p:nvPr/>
        </p:nvSpPr>
        <p:spPr>
          <a:xfrm>
            <a:off x="7388185" y="4949666"/>
            <a:ext cx="91440" cy="1765935"/>
          </a:xfrm>
          <a:prstGeom prst="roundRect">
            <a:avLst>
              <a:gd name="adj" fmla="val 10000"/>
            </a:avLst>
          </a:prstGeom>
          <a:solidFill>
            <a:srgbClr val="FFAD94"/>
          </a:solidFill>
          <a:ln/>
        </p:spPr>
      </p:sp>
      <p:sp>
        <p:nvSpPr>
          <p:cNvPr id="18" name="Text 16"/>
          <p:cNvSpPr/>
          <p:nvPr/>
        </p:nvSpPr>
        <p:spPr>
          <a:xfrm>
            <a:off x="7694414" y="5164455"/>
            <a:ext cx="5216604" cy="300038"/>
          </a:xfrm>
          <a:prstGeom prst="rect">
            <a:avLst/>
          </a:prstGeom>
          <a:noFill/>
          <a:ln/>
        </p:spPr>
        <p:txBody>
          <a:bodyPr wrap="none" lIns="0" tIns="0" rIns="0" bIns="0" rtlCol="0" anchor="t"/>
          <a:lstStyle/>
          <a:p>
            <a:pPr algn="l" indent="0" marL="0">
              <a:lnSpc>
                <a:spcPts val="2350"/>
              </a:lnSpc>
              <a:buNone/>
            </a:pPr>
            <a:r>
              <a:rPr lang="en-US" sz="1850" b="1" dirty="0">
                <a:solidFill>
                  <a:srgbClr val="403C4E"/>
                </a:solidFill>
                <a:latin typeface="Inter Bold" pitchFamily="34" charset="0"/>
                <a:ea typeface="Inter Bold" pitchFamily="34" charset="-122"/>
                <a:cs typeface="Inter Bold" pitchFamily="34" charset="-120"/>
              </a:rPr>
              <a:t>Core Products and Sizes Power the Business</a:t>
            </a:r>
            <a:endParaRPr lang="en-US" sz="1850" dirty="0"/>
          </a:p>
        </p:txBody>
      </p:sp>
      <p:sp>
        <p:nvSpPr>
          <p:cNvPr id="19" name="Text 17"/>
          <p:cNvSpPr/>
          <p:nvPr/>
        </p:nvSpPr>
        <p:spPr>
          <a:xfrm>
            <a:off x="7694414" y="5579626"/>
            <a:ext cx="5477470" cy="921187"/>
          </a:xfrm>
          <a:prstGeom prst="rect">
            <a:avLst/>
          </a:prstGeom>
          <a:noFill/>
          <a:ln/>
        </p:spPr>
        <p:txBody>
          <a:bodyPr wrap="square" lIns="0" tIns="0" rIns="0" bIns="0" rtlCol="0" anchor="t"/>
          <a:lstStyle/>
          <a:p>
            <a:pPr algn="l" indent="0" marL="0">
              <a:lnSpc>
                <a:spcPts val="2400"/>
              </a:lnSpc>
              <a:buNone/>
            </a:pPr>
            <a:r>
              <a:rPr lang="en-US" sz="1500" dirty="0">
                <a:solidFill>
                  <a:srgbClr val="403C4E"/>
                </a:solidFill>
                <a:latin typeface="Inter" pitchFamily="34" charset="0"/>
                <a:ea typeface="Inter" pitchFamily="34" charset="-122"/>
                <a:cs typeface="Inter" pitchFamily="34" charset="-120"/>
              </a:rPr>
              <a:t>A small set of apparel products and popular sizes (M, L, XL) generate most revenue, enabling focused inventory and marketing strategies.</a:t>
            </a:r>
            <a:endParaRPr lang="en-US" sz="1500" dirty="0"/>
          </a:p>
        </p:txBody>
      </p:sp>
      <p:sp>
        <p:nvSpPr>
          <p:cNvPr id="20" name="Text 18"/>
          <p:cNvSpPr/>
          <p:nvPr/>
        </p:nvSpPr>
        <p:spPr>
          <a:xfrm>
            <a:off x="1243608" y="6931581"/>
            <a:ext cx="12143065" cy="614124"/>
          </a:xfrm>
          <a:prstGeom prst="rect">
            <a:avLst/>
          </a:prstGeom>
          <a:noFill/>
          <a:ln/>
        </p:spPr>
        <p:txBody>
          <a:bodyPr wrap="square" lIns="0" tIns="0" rIns="0" bIns="0" rtlCol="0" anchor="t"/>
          <a:lstStyle/>
          <a:p>
            <a:pPr algn="l" indent="0" marL="0">
              <a:lnSpc>
                <a:spcPts val="2400"/>
              </a:lnSpc>
              <a:buNone/>
            </a:pPr>
            <a:r>
              <a:rPr lang="en-US" sz="1500" dirty="0">
                <a:solidFill>
                  <a:srgbClr val="403C4E"/>
                </a:solidFill>
                <a:latin typeface="Inter" pitchFamily="34" charset="0"/>
                <a:ea typeface="Inter" pitchFamily="34" charset="-122"/>
                <a:cs typeface="Inter" pitchFamily="34" charset="-120"/>
              </a:rPr>
              <a:t>Implementation of these recommendations, supported by continued analytical monitoring, positions the business for sustained competitive advantage and accelerated revenue growth in an increasingly dynamic e-commerce landscape.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2026-01-21T16:30:59Z</dcterms:created>
  <dcterms:modified xsi:type="dcterms:W3CDTF">2026-01-21T16:30:59Z</dcterms:modified>
</cp:coreProperties>
</file>